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CE425E-BA26-FA01-7024-2CB44C512DB9}" name="Hannah Pearce" initials="HP" userId="S::hannah.pearce@plus3.co.za::7a159146-1b52-4fb5-906b-5eb0c84b66e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804502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0A"/>
        </a:solidFill>
        <a:effectLst/>
      </p:bgPr>
    </p:bg>
    <p:spTree>
      <p:nvGrpSpPr>
        <p:cNvPr id="1" name=""/>
        <p:cNvGrpSpPr/>
        <p:nvPr/>
      </p:nvGrpSpPr>
      <p:grpSpPr>
        <a:xfrm>
          <a:off x="0" y="0"/>
          <a:ext cx="0" cy="0"/>
          <a:chOff x="0" y="0"/>
          <a:chExt cx="0" cy="0"/>
        </a:xfrm>
      </p:grpSpPr>
      <p:pic>
        <p:nvPicPr>
          <p:cNvPr id="2" name="Image 0" descr="/agent/turn2/workspace/assets/theme.png"/>
          <p:cNvPicPr>
            <a:picLocks noChangeAspect="1"/>
          </p:cNvPicPr>
          <p:nvPr/>
        </p:nvPicPr>
        <p:blipFill>
          <a:blip r:embed="rId3"/>
          <a:srcRect l="18113" r="18113"/>
          <a:stretch/>
        </p:blipFill>
        <p:spPr>
          <a:xfrm>
            <a:off x="7818120" y="0"/>
            <a:ext cx="4373575" cy="6858000"/>
          </a:xfrm>
          <a:prstGeom prst="rect">
            <a:avLst/>
          </a:prstGeom>
        </p:spPr>
      </p:pic>
      <p:sp>
        <p:nvSpPr>
          <p:cNvPr id="3" name="Shape 0"/>
          <p:cNvSpPr/>
          <p:nvPr/>
        </p:nvSpPr>
        <p:spPr>
          <a:xfrm>
            <a:off x="7726680" y="0"/>
            <a:ext cx="91440" cy="6858000"/>
          </a:xfrm>
          <a:prstGeom prst="rect">
            <a:avLst/>
          </a:prstGeom>
          <a:solidFill>
            <a:srgbClr val="37B34A"/>
          </a:solidFill>
          <a:ln/>
        </p:spPr>
        <p:txBody>
          <a:bodyPr/>
          <a:lstStyle/>
          <a:p>
            <a:endParaRPr lang="en-ZA"/>
          </a:p>
        </p:txBody>
      </p:sp>
      <p:sp>
        <p:nvSpPr>
          <p:cNvPr id="5" name="Text 2"/>
          <p:cNvSpPr/>
          <p:nvPr/>
        </p:nvSpPr>
        <p:spPr>
          <a:xfrm>
            <a:off x="713232" y="2286000"/>
            <a:ext cx="5486400" cy="292608"/>
          </a:xfrm>
          <a:prstGeom prst="rect">
            <a:avLst/>
          </a:prstGeom>
          <a:noFill/>
          <a:ln/>
        </p:spPr>
        <p:txBody>
          <a:bodyPr wrap="square" lIns="0" tIns="0" rIns="0" bIns="0" rtlCol="0" anchor="ctr"/>
          <a:lstStyle/>
          <a:p>
            <a:pPr marL="0" indent="0">
              <a:buNone/>
            </a:pPr>
            <a:r>
              <a:rPr lang="en-US" sz="1250" b="1" kern="0" spc="300">
                <a:solidFill>
                  <a:srgbClr val="37B34A"/>
                </a:solidFill>
                <a:latin typeface="Arial" pitchFamily="34" charset="0"/>
                <a:ea typeface="Arial" pitchFamily="34" charset="-122"/>
                <a:cs typeface="Arial" pitchFamily="34" charset="-120"/>
              </a:rPr>
              <a:t>COMPANY OVERVIEW</a:t>
            </a:r>
            <a:endParaRPr lang="en-US" sz="1250"/>
          </a:p>
        </p:txBody>
      </p:sp>
      <p:sp>
        <p:nvSpPr>
          <p:cNvPr id="6" name="Text 3"/>
          <p:cNvSpPr/>
          <p:nvPr/>
        </p:nvSpPr>
        <p:spPr>
          <a:xfrm>
            <a:off x="640080" y="2606040"/>
            <a:ext cx="6949440" cy="1371600"/>
          </a:xfrm>
          <a:prstGeom prst="rect">
            <a:avLst/>
          </a:prstGeom>
          <a:noFill/>
          <a:ln/>
        </p:spPr>
        <p:txBody>
          <a:bodyPr wrap="square" lIns="0" tIns="0" rIns="0" bIns="0" rtlCol="0" anchor="ctr"/>
          <a:lstStyle/>
          <a:p>
            <a:pPr marL="0" indent="0">
              <a:buNone/>
            </a:pPr>
            <a:r>
              <a:rPr lang="en-US" sz="7000" b="1">
                <a:solidFill>
                  <a:srgbClr val="F0F2ED"/>
                </a:solidFill>
                <a:latin typeface="Arial" pitchFamily="34" charset="0"/>
                <a:ea typeface="Arial" pitchFamily="34" charset="-122"/>
                <a:cs typeface="Arial" pitchFamily="34" charset="-120"/>
              </a:rPr>
              <a:t>Introduction</a:t>
            </a:r>
            <a:endParaRPr lang="en-US" sz="7000"/>
          </a:p>
        </p:txBody>
      </p:sp>
      <p:sp>
        <p:nvSpPr>
          <p:cNvPr id="7" name="Text 4"/>
          <p:cNvSpPr/>
          <p:nvPr/>
        </p:nvSpPr>
        <p:spPr>
          <a:xfrm>
            <a:off x="685800" y="4069080"/>
            <a:ext cx="6766560" cy="548640"/>
          </a:xfrm>
          <a:prstGeom prst="rect">
            <a:avLst/>
          </a:prstGeom>
          <a:noFill/>
          <a:ln/>
        </p:spPr>
        <p:txBody>
          <a:bodyPr wrap="square" lIns="0" tIns="0" rIns="0" bIns="0" rtlCol="0" anchor="ctr"/>
          <a:lstStyle/>
          <a:p>
            <a:pPr marL="0" indent="0">
              <a:buNone/>
            </a:pPr>
            <a:r>
              <a:rPr lang="en-US" sz="2300" b="1" dirty="0">
                <a:solidFill>
                  <a:srgbClr val="61D26B"/>
                </a:solidFill>
                <a:latin typeface="Arial" pitchFamily="34" charset="0"/>
                <a:ea typeface="Arial" pitchFamily="34" charset="-122"/>
                <a:cs typeface="Arial" pitchFamily="34" charset="-120"/>
              </a:rPr>
              <a:t>Tech talent to bring your ideas to life.</a:t>
            </a:r>
            <a:endParaRPr lang="en-US" sz="2300" dirty="0"/>
          </a:p>
        </p:txBody>
      </p:sp>
      <p:sp>
        <p:nvSpPr>
          <p:cNvPr id="8" name="Text 5"/>
          <p:cNvSpPr/>
          <p:nvPr/>
        </p:nvSpPr>
        <p:spPr>
          <a:xfrm>
            <a:off x="685800" y="4663440"/>
            <a:ext cx="6766560" cy="457200"/>
          </a:xfrm>
          <a:prstGeom prst="rect">
            <a:avLst/>
          </a:prstGeom>
          <a:noFill/>
          <a:ln/>
        </p:spPr>
        <p:txBody>
          <a:bodyPr wrap="square" lIns="0" tIns="0" rIns="0" bIns="0" rtlCol="0" anchor="ctr"/>
          <a:lstStyle/>
          <a:p>
            <a:pPr marL="0" indent="0">
              <a:buNone/>
            </a:pPr>
            <a:r>
              <a:rPr lang="en-US" sz="1700">
                <a:solidFill>
                  <a:srgbClr val="98A399"/>
                </a:solidFill>
                <a:latin typeface="Calibri" pitchFamily="34" charset="0"/>
                <a:ea typeface="Calibri" pitchFamily="34" charset="-122"/>
                <a:cs typeface="Calibri" pitchFamily="34" charset="-120"/>
              </a:rPr>
              <a:t>Smarter delivery, better results, and partnerships that last.</a:t>
            </a:r>
            <a:endParaRPr lang="en-US" sz="1700"/>
          </a:p>
        </p:txBody>
      </p:sp>
      <p:sp>
        <p:nvSpPr>
          <p:cNvPr id="9" name="Text 6"/>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10" name="Text 7"/>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01</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4"/>
          <a:stretch>
            <a:fillRect/>
          </a:stretch>
        </p:blipFill>
        <p:spPr>
          <a:xfrm>
            <a:off x="640080" y="713232"/>
            <a:ext cx="809100" cy="2560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0A"/>
        </a:solidFill>
        <a:effectLst/>
      </p:bgPr>
    </p:bg>
    <p:spTree>
      <p:nvGrpSpPr>
        <p:cNvPr id="1" name=""/>
        <p:cNvGrpSpPr/>
        <p:nvPr/>
      </p:nvGrpSpPr>
      <p:grpSpPr>
        <a:xfrm>
          <a:off x="0" y="0"/>
          <a:ext cx="0" cy="0"/>
          <a:chOff x="0" y="0"/>
          <a:chExt cx="0" cy="0"/>
        </a:xfrm>
      </p:grpSpPr>
      <p:pic>
        <p:nvPicPr>
          <p:cNvPr id="2" name="Image 0" descr="/agent/turn2/workspace/assets/theme.png"/>
          <p:cNvPicPr>
            <a:picLocks noChangeAspect="1"/>
          </p:cNvPicPr>
          <p:nvPr/>
        </p:nvPicPr>
        <p:blipFill>
          <a:blip r:embed="rId3">
            <a:alphaModFix amt="70000"/>
          </a:blip>
          <a:srcRect l="23333" r="23333"/>
          <a:stretch/>
        </p:blipFill>
        <p:spPr>
          <a:xfrm>
            <a:off x="0" y="0"/>
            <a:ext cx="3657600" cy="6858000"/>
          </a:xfrm>
          <a:prstGeom prst="rect">
            <a:avLst/>
          </a:prstGeom>
        </p:spPr>
      </p:pic>
      <p:sp>
        <p:nvSpPr>
          <p:cNvPr id="3" name="Shape 0"/>
          <p:cNvSpPr/>
          <p:nvPr/>
        </p:nvSpPr>
        <p:spPr>
          <a:xfrm>
            <a:off x="0" y="0"/>
            <a:ext cx="3657600" cy="6858000"/>
          </a:xfrm>
          <a:prstGeom prst="rect">
            <a:avLst/>
          </a:prstGeom>
          <a:solidFill>
            <a:srgbClr val="0A0C0A">
              <a:alpha val="62000"/>
            </a:srgbClr>
          </a:solidFill>
          <a:ln/>
        </p:spPr>
        <p:txBody>
          <a:bodyPr/>
          <a:lstStyle/>
          <a:p>
            <a:endParaRPr lang="en-ZA"/>
          </a:p>
        </p:txBody>
      </p:sp>
      <p:sp>
        <p:nvSpPr>
          <p:cNvPr id="4" name="Shape 1"/>
          <p:cNvSpPr/>
          <p:nvPr/>
        </p:nvSpPr>
        <p:spPr>
          <a:xfrm>
            <a:off x="3611880" y="0"/>
            <a:ext cx="73152" cy="6858000"/>
          </a:xfrm>
          <a:prstGeom prst="rect">
            <a:avLst/>
          </a:prstGeom>
          <a:solidFill>
            <a:srgbClr val="37B34A"/>
          </a:solidFill>
          <a:ln/>
        </p:spPr>
        <p:txBody>
          <a:bodyPr/>
          <a:lstStyle/>
          <a:p>
            <a:endParaRPr lang="en-ZA"/>
          </a:p>
        </p:txBody>
      </p:sp>
      <p:sp>
        <p:nvSpPr>
          <p:cNvPr id="5" name="Text 2"/>
          <p:cNvSpPr/>
          <p:nvPr/>
        </p:nvSpPr>
        <p:spPr>
          <a:xfrm>
            <a:off x="4160520" y="822960"/>
            <a:ext cx="2743200" cy="2011680"/>
          </a:xfrm>
          <a:prstGeom prst="rect">
            <a:avLst/>
          </a:prstGeom>
          <a:noFill/>
          <a:ln/>
        </p:spPr>
        <p:txBody>
          <a:bodyPr wrap="square" lIns="0" tIns="0" rIns="0" bIns="0" rtlCol="0" anchor="ctr"/>
          <a:lstStyle/>
          <a:p>
            <a:pPr marL="0" indent="0">
              <a:buNone/>
            </a:pPr>
            <a:r>
              <a:rPr lang="en-US" sz="22000" b="1">
                <a:solidFill>
                  <a:srgbClr val="1E5B24"/>
                </a:solidFill>
                <a:latin typeface="Georgia" pitchFamily="34" charset="0"/>
                <a:ea typeface="Georgia" pitchFamily="34" charset="-122"/>
                <a:cs typeface="Georgia" pitchFamily="34" charset="-120"/>
              </a:rPr>
              <a:t>“</a:t>
            </a:r>
            <a:endParaRPr lang="en-US" sz="22000"/>
          </a:p>
        </p:txBody>
      </p:sp>
      <p:sp>
        <p:nvSpPr>
          <p:cNvPr id="6" name="Text 3"/>
          <p:cNvSpPr/>
          <p:nvPr/>
        </p:nvSpPr>
        <p:spPr>
          <a:xfrm>
            <a:off x="4572000" y="2148840"/>
            <a:ext cx="7040880" cy="2194560"/>
          </a:xfrm>
          <a:prstGeom prst="rect">
            <a:avLst/>
          </a:prstGeom>
          <a:noFill/>
          <a:ln/>
        </p:spPr>
        <p:txBody>
          <a:bodyPr wrap="square" lIns="0" tIns="0" rIns="0" bIns="0" rtlCol="0" anchor="ctr"/>
          <a:lstStyle/>
          <a:p>
            <a:pPr marL="0" indent="0">
              <a:buNone/>
            </a:pPr>
            <a:r>
              <a:rPr lang="en-US" sz="4200" b="1" i="1" dirty="0">
                <a:solidFill>
                  <a:srgbClr val="F0F2ED"/>
                </a:solidFill>
                <a:latin typeface="Arial" pitchFamily="34" charset="0"/>
                <a:ea typeface="Arial" pitchFamily="34" charset="-122"/>
                <a:cs typeface="Arial" pitchFamily="34" charset="-120"/>
              </a:rPr>
              <a:t>We don’t sell solutions. We build the right ones.</a:t>
            </a:r>
            <a:endParaRPr lang="en-US" sz="4200" dirty="0"/>
          </a:p>
        </p:txBody>
      </p:sp>
      <p:sp>
        <p:nvSpPr>
          <p:cNvPr id="7" name="Text 4"/>
          <p:cNvSpPr/>
          <p:nvPr/>
        </p:nvSpPr>
        <p:spPr>
          <a:xfrm>
            <a:off x="4599432" y="4434840"/>
            <a:ext cx="5486400" cy="457200"/>
          </a:xfrm>
          <a:prstGeom prst="rect">
            <a:avLst/>
          </a:prstGeom>
          <a:noFill/>
          <a:ln/>
        </p:spPr>
        <p:txBody>
          <a:bodyPr wrap="square" lIns="0" tIns="0" rIns="0" bIns="0" rtlCol="0" anchor="ctr"/>
          <a:lstStyle/>
          <a:p>
            <a:pPr marL="0" indent="0">
              <a:buNone/>
            </a:pPr>
            <a:r>
              <a:rPr lang="en-US" sz="2000" b="1">
                <a:solidFill>
                  <a:srgbClr val="37B34A"/>
                </a:solidFill>
                <a:latin typeface="Arial" pitchFamily="34" charset="0"/>
                <a:ea typeface="Arial" pitchFamily="34" charset="-122"/>
                <a:cs typeface="Arial" pitchFamily="34" charset="-120"/>
              </a:rPr>
              <a:t>—  The Plus3 belief</a:t>
            </a:r>
            <a:endParaRPr lang="en-US" sz="2000"/>
          </a:p>
        </p:txBody>
      </p:sp>
      <p:sp>
        <p:nvSpPr>
          <p:cNvPr id="8" name="Text 5"/>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9" name="Text 6"/>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02</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10" name="Plus3 Logo">
            <a:extLst>
              <a:ext uri="{FF2B5EF4-FFF2-40B4-BE49-F238E27FC236}">
                <a16:creationId xmlns:a16="http://schemas.microsoft.com/office/drawing/2014/main" id="{C2776808-4418-8EA9-63DE-BF35D5B52583}"/>
              </a:ext>
            </a:extLst>
          </p:cNvPr>
          <p:cNvPicPr>
            <a:picLocks noChangeAspect="1"/>
          </p:cNvPicPr>
          <p:nvPr/>
        </p:nvPicPr>
        <p:blipFill>
          <a:blip r:embed="rId4"/>
          <a:stretch>
            <a:fillRect/>
          </a:stretch>
        </p:blipFill>
        <p:spPr>
          <a:xfrm>
            <a:off x="640080" y="713232"/>
            <a:ext cx="809100" cy="256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0A"/>
        </a:solidFill>
        <a:effectLst/>
      </p:bgPr>
    </p:bg>
    <p:spTree>
      <p:nvGrpSpPr>
        <p:cNvPr id="1" name=""/>
        <p:cNvGrpSpPr/>
        <p:nvPr/>
      </p:nvGrpSpPr>
      <p:grpSpPr>
        <a:xfrm>
          <a:off x="0" y="0"/>
          <a:ext cx="0" cy="0"/>
          <a:chOff x="0" y="0"/>
          <a:chExt cx="0" cy="0"/>
        </a:xfrm>
      </p:grpSpPr>
      <p:sp>
        <p:nvSpPr>
          <p:cNvPr id="2" name="Text 0"/>
          <p:cNvSpPr/>
          <p:nvPr/>
        </p:nvSpPr>
        <p:spPr>
          <a:xfrm>
            <a:off x="636189" y="649224"/>
            <a:ext cx="5486400" cy="292608"/>
          </a:xfrm>
          <a:prstGeom prst="rect">
            <a:avLst/>
          </a:prstGeom>
          <a:noFill/>
          <a:ln/>
        </p:spPr>
        <p:txBody>
          <a:bodyPr wrap="square" lIns="0" tIns="0" rIns="0" bIns="0" rtlCol="0" anchor="ctr"/>
          <a:lstStyle/>
          <a:p>
            <a:pPr marL="0" indent="0">
              <a:buNone/>
            </a:pPr>
            <a:r>
              <a:rPr lang="en-US" sz="1250" b="1" kern="0" spc="300">
                <a:solidFill>
                  <a:srgbClr val="37B34A"/>
                </a:solidFill>
                <a:latin typeface="Arial" pitchFamily="34" charset="0"/>
                <a:ea typeface="Arial" pitchFamily="34" charset="-122"/>
                <a:cs typeface="Arial" pitchFamily="34" charset="-120"/>
              </a:rPr>
              <a:t>NAVIGATE</a:t>
            </a:r>
            <a:endParaRPr lang="en-US" sz="1250"/>
          </a:p>
        </p:txBody>
      </p:sp>
      <p:sp>
        <p:nvSpPr>
          <p:cNvPr id="3" name="Text 1"/>
          <p:cNvSpPr/>
          <p:nvPr/>
        </p:nvSpPr>
        <p:spPr>
          <a:xfrm>
            <a:off x="640080" y="960120"/>
            <a:ext cx="7315200" cy="914400"/>
          </a:xfrm>
          <a:prstGeom prst="rect">
            <a:avLst/>
          </a:prstGeom>
          <a:noFill/>
          <a:ln/>
        </p:spPr>
        <p:txBody>
          <a:bodyPr wrap="square" lIns="0" tIns="0" rIns="0" bIns="0" rtlCol="0" anchor="ctr"/>
          <a:lstStyle/>
          <a:p>
            <a:pPr marL="0" indent="0">
              <a:buNone/>
            </a:pPr>
            <a:r>
              <a:rPr lang="en-US" sz="4800" b="1">
                <a:solidFill>
                  <a:srgbClr val="F0F2ED"/>
                </a:solidFill>
                <a:latin typeface="Arial" pitchFamily="34" charset="0"/>
                <a:ea typeface="Arial" pitchFamily="34" charset="-122"/>
                <a:cs typeface="Arial" pitchFamily="34" charset="-120"/>
              </a:rPr>
              <a:t>Contents</a:t>
            </a:r>
            <a:endParaRPr lang="en-US" sz="4800"/>
          </a:p>
        </p:txBody>
      </p:sp>
      <p:sp>
        <p:nvSpPr>
          <p:cNvPr id="41" name="Panel Accent"/>
          <p:cNvSpPr/>
          <p:nvPr/>
        </p:nvSpPr>
        <p:spPr>
          <a:xfrm>
            <a:off x="6281928" y="655320"/>
            <a:ext cx="73152" cy="1219200"/>
          </a:xfrm>
          <a:prstGeom prst="rect">
            <a:avLst/>
          </a:prstGeom>
          <a:solidFill>
            <a:srgbClr val="37B34A"/>
          </a:solidFill>
          <a:ln/>
        </p:spPr>
        <p:txBody>
          <a:bodyPr/>
          <a:lstStyle/>
          <a:p>
            <a:endParaRPr lang="en-ZA"/>
          </a:p>
        </p:txBody>
      </p:sp>
      <p:pic>
        <p:nvPicPr>
          <p:cNvPr id="4" name="Image 0" descr="/agent/turn2/workspace/assets/theme.png"/>
          <p:cNvPicPr>
            <a:picLocks noChangeAspect="1"/>
          </p:cNvPicPr>
          <p:nvPr/>
        </p:nvPicPr>
        <p:blipFill>
          <a:blip r:embed="rId3"/>
          <a:srcRect t="38300" b="38300"/>
          <a:stretch/>
        </p:blipFill>
        <p:spPr>
          <a:xfrm>
            <a:off x="6428016" y="655320"/>
            <a:ext cx="5123904" cy="1219200"/>
          </a:xfrm>
          <a:prstGeom prst="rect">
            <a:avLst/>
          </a:prstGeom>
        </p:spPr>
      </p:pic>
      <p:sp>
        <p:nvSpPr>
          <p:cNvPr id="6" name="Text 3"/>
          <p:cNvSpPr/>
          <p:nvPr/>
        </p:nvSpPr>
        <p:spPr>
          <a:xfrm>
            <a:off x="640080" y="2331720"/>
            <a:ext cx="960120" cy="859536"/>
          </a:xfrm>
          <a:prstGeom prst="rect">
            <a:avLst/>
          </a:prstGeom>
          <a:noFill/>
          <a:ln/>
        </p:spPr>
        <p:txBody>
          <a:bodyPr wrap="square" lIns="0" tIns="0" rIns="0" bIns="0" rtlCol="0" anchor="ctr"/>
          <a:lstStyle/>
          <a:p>
            <a:pPr marL="0" indent="0">
              <a:buNone/>
            </a:pPr>
            <a:r>
              <a:rPr lang="en-US" sz="3000" b="1">
                <a:solidFill>
                  <a:srgbClr val="37B34A"/>
                </a:solidFill>
                <a:latin typeface="Arial" pitchFamily="34" charset="0"/>
                <a:ea typeface="Arial" pitchFamily="34" charset="-122"/>
                <a:cs typeface="Arial" pitchFamily="34" charset="-120"/>
              </a:rPr>
              <a:t>01</a:t>
            </a:r>
            <a:endParaRPr lang="en-US" sz="3000"/>
          </a:p>
        </p:txBody>
      </p:sp>
      <p:sp>
        <p:nvSpPr>
          <p:cNvPr id="7" name="Text 4"/>
          <p:cNvSpPr/>
          <p:nvPr/>
        </p:nvSpPr>
        <p:spPr>
          <a:xfrm>
            <a:off x="1691640" y="2368296"/>
            <a:ext cx="4297680" cy="457200"/>
          </a:xfrm>
          <a:prstGeom prst="rect">
            <a:avLst/>
          </a:prstGeom>
          <a:noFill/>
          <a:ln/>
        </p:spPr>
        <p:txBody>
          <a:bodyPr wrap="square" lIns="0" tIns="0" rIns="0" bIns="0" rtlCol="0" anchor="ctr"/>
          <a:lstStyle/>
          <a:p>
            <a:pPr marL="0" indent="0">
              <a:buNone/>
            </a:pPr>
            <a:r>
              <a:rPr lang="en-US" sz="1800" b="1">
                <a:solidFill>
                  <a:srgbClr val="F0F2ED"/>
                </a:solidFill>
                <a:latin typeface="Arial" pitchFamily="34" charset="0"/>
                <a:ea typeface="Arial" pitchFamily="34" charset="-122"/>
                <a:cs typeface="Arial" pitchFamily="34" charset="-120"/>
              </a:rPr>
              <a:t>Introduction</a:t>
            </a:r>
            <a:endParaRPr lang="en-US" sz="1800"/>
          </a:p>
        </p:txBody>
      </p:sp>
      <p:sp>
        <p:nvSpPr>
          <p:cNvPr id="8" name="Text 5"/>
          <p:cNvSpPr/>
          <p:nvPr/>
        </p:nvSpPr>
        <p:spPr>
          <a:xfrm>
            <a:off x="1691640" y="2807208"/>
            <a:ext cx="4480560" cy="365760"/>
          </a:xfrm>
          <a:prstGeom prst="rect">
            <a:avLst/>
          </a:prstGeom>
          <a:noFill/>
          <a:ln/>
        </p:spPr>
        <p:txBody>
          <a:bodyPr wrap="square" lIns="0" tIns="0" rIns="0" bIns="0" rtlCol="0" anchor="ctr"/>
          <a:lstStyle/>
          <a:p>
            <a:pPr marL="0" indent="0">
              <a:buNone/>
            </a:pPr>
            <a:r>
              <a:rPr lang="en-US" sz="1250">
                <a:solidFill>
                  <a:srgbClr val="98A399"/>
                </a:solidFill>
                <a:latin typeface="Calibri" pitchFamily="34" charset="0"/>
                <a:ea typeface="Calibri" pitchFamily="34" charset="-122"/>
                <a:cs typeface="Calibri" pitchFamily="34" charset="-120"/>
              </a:rPr>
              <a:t>Who we are and what we believe</a:t>
            </a:r>
            <a:endParaRPr lang="en-US" sz="1250"/>
          </a:p>
        </p:txBody>
      </p:sp>
      <p:sp>
        <p:nvSpPr>
          <p:cNvPr id="9" name="Text 6"/>
          <p:cNvSpPr/>
          <p:nvPr/>
        </p:nvSpPr>
        <p:spPr>
          <a:xfrm>
            <a:off x="640080" y="3355848"/>
            <a:ext cx="960120" cy="859536"/>
          </a:xfrm>
          <a:prstGeom prst="rect">
            <a:avLst/>
          </a:prstGeom>
          <a:noFill/>
          <a:ln/>
        </p:spPr>
        <p:txBody>
          <a:bodyPr wrap="square" lIns="0" tIns="0" rIns="0" bIns="0" rtlCol="0" anchor="ctr"/>
          <a:lstStyle/>
          <a:p>
            <a:pPr marL="0" indent="0">
              <a:buNone/>
            </a:pPr>
            <a:r>
              <a:rPr lang="en-US" sz="3000" b="1">
                <a:solidFill>
                  <a:srgbClr val="37B34A"/>
                </a:solidFill>
                <a:latin typeface="Arial" pitchFamily="34" charset="0"/>
                <a:ea typeface="Arial" pitchFamily="34" charset="-122"/>
                <a:cs typeface="Arial" pitchFamily="34" charset="-120"/>
              </a:rPr>
              <a:t>02</a:t>
            </a:r>
            <a:endParaRPr lang="en-US" sz="3000"/>
          </a:p>
        </p:txBody>
      </p:sp>
      <p:sp>
        <p:nvSpPr>
          <p:cNvPr id="10" name="Text 7"/>
          <p:cNvSpPr/>
          <p:nvPr/>
        </p:nvSpPr>
        <p:spPr>
          <a:xfrm>
            <a:off x="1691640" y="3392424"/>
            <a:ext cx="4297680" cy="457200"/>
          </a:xfrm>
          <a:prstGeom prst="rect">
            <a:avLst/>
          </a:prstGeom>
          <a:noFill/>
          <a:ln/>
        </p:spPr>
        <p:txBody>
          <a:bodyPr wrap="square" lIns="0" tIns="0" rIns="0" bIns="0" rtlCol="0" anchor="ctr"/>
          <a:lstStyle/>
          <a:p>
            <a:pPr marL="0" indent="0">
              <a:buNone/>
            </a:pPr>
            <a:r>
              <a:rPr lang="en-US" sz="1800" b="1">
                <a:solidFill>
                  <a:srgbClr val="F0F2ED"/>
                </a:solidFill>
                <a:latin typeface="Arial" pitchFamily="34" charset="0"/>
                <a:ea typeface="Arial" pitchFamily="34" charset="-122"/>
                <a:cs typeface="Arial" pitchFamily="34" charset="-120"/>
              </a:rPr>
              <a:t>About Plus3</a:t>
            </a:r>
            <a:endParaRPr lang="en-US" sz="1800"/>
          </a:p>
        </p:txBody>
      </p:sp>
      <p:sp>
        <p:nvSpPr>
          <p:cNvPr id="11" name="Text 8"/>
          <p:cNvSpPr/>
          <p:nvPr/>
        </p:nvSpPr>
        <p:spPr>
          <a:xfrm>
            <a:off x="1691640" y="3831336"/>
            <a:ext cx="4480560" cy="365760"/>
          </a:xfrm>
          <a:prstGeom prst="rect">
            <a:avLst/>
          </a:prstGeom>
          <a:noFill/>
          <a:ln/>
        </p:spPr>
        <p:txBody>
          <a:bodyPr wrap="square" lIns="0" tIns="0" rIns="0" bIns="0" rtlCol="0" anchor="ctr"/>
          <a:lstStyle/>
          <a:p>
            <a:pPr marL="0" indent="0">
              <a:buNone/>
            </a:pPr>
            <a:r>
              <a:rPr lang="en-US" sz="1250">
                <a:solidFill>
                  <a:srgbClr val="98A399"/>
                </a:solidFill>
                <a:latin typeface="Calibri" pitchFamily="34" charset="0"/>
                <a:ea typeface="Calibri" pitchFamily="34" charset="-122"/>
                <a:cs typeface="Calibri" pitchFamily="34" charset="-120"/>
              </a:rPr>
              <a:t>Built differently from day one</a:t>
            </a:r>
            <a:endParaRPr lang="en-US" sz="1250"/>
          </a:p>
        </p:txBody>
      </p:sp>
      <p:sp>
        <p:nvSpPr>
          <p:cNvPr id="12" name="Text 9"/>
          <p:cNvSpPr/>
          <p:nvPr/>
        </p:nvSpPr>
        <p:spPr>
          <a:xfrm>
            <a:off x="640080" y="4379976"/>
            <a:ext cx="960120" cy="859536"/>
          </a:xfrm>
          <a:prstGeom prst="rect">
            <a:avLst/>
          </a:prstGeom>
          <a:noFill/>
          <a:ln/>
        </p:spPr>
        <p:txBody>
          <a:bodyPr wrap="square" lIns="0" tIns="0" rIns="0" bIns="0" rtlCol="0" anchor="ctr"/>
          <a:lstStyle/>
          <a:p>
            <a:pPr marL="0" indent="0">
              <a:buNone/>
            </a:pPr>
            <a:r>
              <a:rPr lang="en-US" sz="3000" b="1">
                <a:solidFill>
                  <a:srgbClr val="37B34A"/>
                </a:solidFill>
                <a:latin typeface="Arial" pitchFamily="34" charset="0"/>
                <a:ea typeface="Arial" pitchFamily="34" charset="-122"/>
                <a:cs typeface="Arial" pitchFamily="34" charset="-120"/>
              </a:rPr>
              <a:t>03</a:t>
            </a:r>
            <a:endParaRPr lang="en-US" sz="3000"/>
          </a:p>
        </p:txBody>
      </p:sp>
      <p:sp>
        <p:nvSpPr>
          <p:cNvPr id="13" name="Text 10"/>
          <p:cNvSpPr/>
          <p:nvPr/>
        </p:nvSpPr>
        <p:spPr>
          <a:xfrm>
            <a:off x="1691640" y="4416552"/>
            <a:ext cx="4297680" cy="457200"/>
          </a:xfrm>
          <a:prstGeom prst="rect">
            <a:avLst/>
          </a:prstGeom>
          <a:noFill/>
          <a:ln/>
        </p:spPr>
        <p:txBody>
          <a:bodyPr wrap="square" lIns="0" tIns="0" rIns="0" bIns="0" rtlCol="0" anchor="ctr"/>
          <a:lstStyle/>
          <a:p>
            <a:pPr marL="0" indent="0">
              <a:buNone/>
            </a:pPr>
            <a:r>
              <a:rPr lang="en-US" sz="1800" b="1">
                <a:solidFill>
                  <a:srgbClr val="F0F2ED"/>
                </a:solidFill>
                <a:latin typeface="Arial" pitchFamily="34" charset="0"/>
                <a:ea typeface="Arial" pitchFamily="34" charset="-122"/>
                <a:cs typeface="Arial" pitchFamily="34" charset="-120"/>
              </a:rPr>
              <a:t>Our Services</a:t>
            </a:r>
            <a:endParaRPr lang="en-US" sz="1800"/>
          </a:p>
        </p:txBody>
      </p:sp>
      <p:sp>
        <p:nvSpPr>
          <p:cNvPr id="14" name="Text 11"/>
          <p:cNvSpPr/>
          <p:nvPr/>
        </p:nvSpPr>
        <p:spPr>
          <a:xfrm>
            <a:off x="1691640" y="4855464"/>
            <a:ext cx="4480560" cy="365760"/>
          </a:xfrm>
          <a:prstGeom prst="rect">
            <a:avLst/>
          </a:prstGeom>
          <a:noFill/>
          <a:ln/>
        </p:spPr>
        <p:txBody>
          <a:bodyPr wrap="square" lIns="0" tIns="0" rIns="0" bIns="0" rtlCol="0" anchor="ctr"/>
          <a:lstStyle/>
          <a:p>
            <a:pPr marL="0" indent="0">
              <a:buNone/>
            </a:pPr>
            <a:r>
              <a:rPr lang="en-US" sz="1250">
                <a:solidFill>
                  <a:srgbClr val="98A399"/>
                </a:solidFill>
                <a:latin typeface="Calibri" pitchFamily="34" charset="0"/>
                <a:ea typeface="Calibri" pitchFamily="34" charset="-122"/>
                <a:cs typeface="Calibri" pitchFamily="34" charset="-120"/>
              </a:rPr>
              <a:t>End-to-end delivery capability</a:t>
            </a:r>
            <a:endParaRPr lang="en-US" sz="1250"/>
          </a:p>
        </p:txBody>
      </p:sp>
      <p:sp>
        <p:nvSpPr>
          <p:cNvPr id="15" name="Text 12"/>
          <p:cNvSpPr/>
          <p:nvPr/>
        </p:nvSpPr>
        <p:spPr>
          <a:xfrm>
            <a:off x="640080" y="5404104"/>
            <a:ext cx="960120" cy="859536"/>
          </a:xfrm>
          <a:prstGeom prst="rect">
            <a:avLst/>
          </a:prstGeom>
          <a:noFill/>
          <a:ln/>
        </p:spPr>
        <p:txBody>
          <a:bodyPr wrap="square" lIns="0" tIns="0" rIns="0" bIns="0" rtlCol="0" anchor="ctr"/>
          <a:lstStyle/>
          <a:p>
            <a:pPr marL="0" indent="0">
              <a:buNone/>
            </a:pPr>
            <a:r>
              <a:rPr lang="en-US" sz="3000" b="1">
                <a:solidFill>
                  <a:srgbClr val="37B34A"/>
                </a:solidFill>
                <a:latin typeface="Arial" pitchFamily="34" charset="0"/>
                <a:ea typeface="Arial" pitchFamily="34" charset="-122"/>
                <a:cs typeface="Arial" pitchFamily="34" charset="-120"/>
              </a:rPr>
              <a:t>04</a:t>
            </a:r>
            <a:endParaRPr lang="en-US" sz="3000"/>
          </a:p>
        </p:txBody>
      </p:sp>
      <p:sp>
        <p:nvSpPr>
          <p:cNvPr id="16" name="Text 13"/>
          <p:cNvSpPr/>
          <p:nvPr/>
        </p:nvSpPr>
        <p:spPr>
          <a:xfrm>
            <a:off x="1691640" y="5440680"/>
            <a:ext cx="4297680" cy="457200"/>
          </a:xfrm>
          <a:prstGeom prst="rect">
            <a:avLst/>
          </a:prstGeom>
          <a:noFill/>
          <a:ln/>
        </p:spPr>
        <p:txBody>
          <a:bodyPr wrap="square" lIns="0" tIns="0" rIns="0" bIns="0" rtlCol="0" anchor="ctr"/>
          <a:lstStyle/>
          <a:p>
            <a:pPr marL="0" indent="0">
              <a:buNone/>
            </a:pPr>
            <a:r>
              <a:rPr lang="en-US" sz="1800" b="1">
                <a:solidFill>
                  <a:srgbClr val="F0F2ED"/>
                </a:solidFill>
                <a:latin typeface="Arial" pitchFamily="34" charset="0"/>
                <a:ea typeface="Arial" pitchFamily="34" charset="-122"/>
                <a:cs typeface="Arial" pitchFamily="34" charset="-120"/>
              </a:rPr>
              <a:t>Why Plus3</a:t>
            </a:r>
            <a:endParaRPr lang="en-US" sz="1800"/>
          </a:p>
        </p:txBody>
      </p:sp>
      <p:sp>
        <p:nvSpPr>
          <p:cNvPr id="17" name="Text 14"/>
          <p:cNvSpPr/>
          <p:nvPr/>
        </p:nvSpPr>
        <p:spPr>
          <a:xfrm>
            <a:off x="1691640" y="5879592"/>
            <a:ext cx="4480560" cy="365760"/>
          </a:xfrm>
          <a:prstGeom prst="rect">
            <a:avLst/>
          </a:prstGeom>
          <a:noFill/>
          <a:ln/>
        </p:spPr>
        <p:txBody>
          <a:bodyPr wrap="square" lIns="0" tIns="0" rIns="0" bIns="0" rtlCol="0" anchor="ctr"/>
          <a:lstStyle/>
          <a:p>
            <a:pPr marL="0" indent="0">
              <a:buNone/>
            </a:pPr>
            <a:r>
              <a:rPr lang="en-US" sz="1250">
                <a:solidFill>
                  <a:srgbClr val="98A399"/>
                </a:solidFill>
                <a:latin typeface="Calibri" pitchFamily="34" charset="0"/>
                <a:ea typeface="Calibri" pitchFamily="34" charset="-122"/>
                <a:cs typeface="Calibri" pitchFamily="34" charset="-120"/>
              </a:rPr>
              <a:t>Why clients choose us</a:t>
            </a:r>
            <a:endParaRPr lang="en-US" sz="1250"/>
          </a:p>
        </p:txBody>
      </p:sp>
      <p:sp>
        <p:nvSpPr>
          <p:cNvPr id="21" name="Text 18"/>
          <p:cNvSpPr/>
          <p:nvPr/>
        </p:nvSpPr>
        <p:spPr>
          <a:xfrm>
            <a:off x="6355080" y="2331720"/>
            <a:ext cx="960120" cy="859536"/>
          </a:xfrm>
          <a:prstGeom prst="rect">
            <a:avLst/>
          </a:prstGeom>
          <a:noFill/>
          <a:ln/>
        </p:spPr>
        <p:txBody>
          <a:bodyPr wrap="square" lIns="0" tIns="0" rIns="0" bIns="0" rtlCol="0" anchor="ctr"/>
          <a:lstStyle/>
          <a:p>
            <a:pPr marL="0" indent="0">
              <a:buNone/>
            </a:pPr>
            <a:r>
              <a:rPr lang="en-US" sz="3000" b="1">
                <a:solidFill>
                  <a:srgbClr val="37B34A"/>
                </a:solidFill>
                <a:latin typeface="Arial" pitchFamily="34" charset="0"/>
                <a:ea typeface="Arial" pitchFamily="34" charset="-122"/>
                <a:cs typeface="Arial" pitchFamily="34" charset="-120"/>
              </a:rPr>
              <a:t>05</a:t>
            </a:r>
            <a:endParaRPr lang="en-US" sz="3000"/>
          </a:p>
        </p:txBody>
      </p:sp>
      <p:sp>
        <p:nvSpPr>
          <p:cNvPr id="22" name="Text 19"/>
          <p:cNvSpPr/>
          <p:nvPr/>
        </p:nvSpPr>
        <p:spPr>
          <a:xfrm>
            <a:off x="7406640" y="2368296"/>
            <a:ext cx="2377440" cy="457200"/>
          </a:xfrm>
          <a:prstGeom prst="rect">
            <a:avLst/>
          </a:prstGeom>
          <a:noFill/>
          <a:ln/>
        </p:spPr>
        <p:txBody>
          <a:bodyPr wrap="square" lIns="0" tIns="0" rIns="0" bIns="0" rtlCol="0" anchor="ctr"/>
          <a:lstStyle/>
          <a:p>
            <a:pPr marL="0" indent="0">
              <a:buNone/>
            </a:pPr>
            <a:r>
              <a:rPr lang="en-US" sz="1800" b="1">
                <a:solidFill>
                  <a:srgbClr val="F0F2ED"/>
                </a:solidFill>
                <a:latin typeface="Arial" pitchFamily="34" charset="0"/>
                <a:ea typeface="Arial" pitchFamily="34" charset="-122"/>
                <a:cs typeface="Arial" pitchFamily="34" charset="-120"/>
              </a:rPr>
              <a:t>Engagement Models</a:t>
            </a:r>
            <a:endParaRPr lang="en-US" sz="1800"/>
          </a:p>
        </p:txBody>
      </p:sp>
      <p:sp>
        <p:nvSpPr>
          <p:cNvPr id="23" name="Text 20"/>
          <p:cNvSpPr/>
          <p:nvPr/>
        </p:nvSpPr>
        <p:spPr>
          <a:xfrm>
            <a:off x="7406640" y="2807208"/>
            <a:ext cx="2377440" cy="365760"/>
          </a:xfrm>
          <a:prstGeom prst="rect">
            <a:avLst/>
          </a:prstGeom>
          <a:noFill/>
          <a:ln/>
        </p:spPr>
        <p:txBody>
          <a:bodyPr wrap="square" lIns="0" tIns="0" rIns="0" bIns="0" rtlCol="0" anchor="ctr"/>
          <a:lstStyle/>
          <a:p>
            <a:pPr marL="0" indent="0">
              <a:buNone/>
            </a:pPr>
            <a:r>
              <a:rPr lang="en-US" sz="1250">
                <a:solidFill>
                  <a:srgbClr val="98A399"/>
                </a:solidFill>
                <a:latin typeface="Calibri" pitchFamily="34" charset="0"/>
                <a:ea typeface="Calibri" pitchFamily="34" charset="-122"/>
                <a:cs typeface="Calibri" pitchFamily="34" charset="-120"/>
              </a:rPr>
              <a:t>Flexible ways to work together</a:t>
            </a:r>
            <a:endParaRPr lang="en-US" sz="1250"/>
          </a:p>
        </p:txBody>
      </p:sp>
      <p:sp>
        <p:nvSpPr>
          <p:cNvPr id="24" name="Text 21"/>
          <p:cNvSpPr/>
          <p:nvPr/>
        </p:nvSpPr>
        <p:spPr>
          <a:xfrm>
            <a:off x="6355080" y="3355848"/>
            <a:ext cx="960120" cy="859536"/>
          </a:xfrm>
          <a:prstGeom prst="rect">
            <a:avLst/>
          </a:prstGeom>
          <a:noFill/>
          <a:ln/>
        </p:spPr>
        <p:txBody>
          <a:bodyPr wrap="square" lIns="0" tIns="0" rIns="0" bIns="0" rtlCol="0" anchor="ctr"/>
          <a:lstStyle/>
          <a:p>
            <a:pPr marL="0" indent="0">
              <a:buNone/>
            </a:pPr>
            <a:r>
              <a:rPr lang="en-US" sz="3000" b="1">
                <a:solidFill>
                  <a:srgbClr val="37B34A"/>
                </a:solidFill>
                <a:latin typeface="Arial" pitchFamily="34" charset="0"/>
                <a:ea typeface="Arial" pitchFamily="34" charset="-122"/>
                <a:cs typeface="Arial" pitchFamily="34" charset="-120"/>
              </a:rPr>
              <a:t>06</a:t>
            </a:r>
            <a:endParaRPr lang="en-US" sz="3000"/>
          </a:p>
        </p:txBody>
      </p:sp>
      <p:sp>
        <p:nvSpPr>
          <p:cNvPr id="25" name="Text 22"/>
          <p:cNvSpPr/>
          <p:nvPr/>
        </p:nvSpPr>
        <p:spPr>
          <a:xfrm>
            <a:off x="7406640" y="3392424"/>
            <a:ext cx="2377440" cy="457200"/>
          </a:xfrm>
          <a:prstGeom prst="rect">
            <a:avLst/>
          </a:prstGeom>
          <a:noFill/>
          <a:ln/>
        </p:spPr>
        <p:txBody>
          <a:bodyPr wrap="square" lIns="0" tIns="0" rIns="0" bIns="0" rtlCol="0" anchor="ctr"/>
          <a:lstStyle/>
          <a:p>
            <a:pPr marL="0" indent="0">
              <a:buNone/>
            </a:pPr>
            <a:r>
              <a:rPr lang="en-US" sz="1800" b="1">
                <a:solidFill>
                  <a:srgbClr val="F0F2ED"/>
                </a:solidFill>
                <a:latin typeface="Arial" pitchFamily="34" charset="0"/>
                <a:ea typeface="Arial" pitchFamily="34" charset="-122"/>
                <a:cs typeface="Arial" pitchFamily="34" charset="-120"/>
              </a:rPr>
              <a:t>Contact</a:t>
            </a:r>
            <a:endParaRPr lang="en-US" sz="1800"/>
          </a:p>
        </p:txBody>
      </p:sp>
      <p:sp>
        <p:nvSpPr>
          <p:cNvPr id="26" name="Text 23"/>
          <p:cNvSpPr/>
          <p:nvPr/>
        </p:nvSpPr>
        <p:spPr>
          <a:xfrm>
            <a:off x="7406640" y="3831336"/>
            <a:ext cx="2377440" cy="365760"/>
          </a:xfrm>
          <a:prstGeom prst="rect">
            <a:avLst/>
          </a:prstGeom>
          <a:noFill/>
          <a:ln/>
        </p:spPr>
        <p:txBody>
          <a:bodyPr wrap="square" lIns="0" tIns="0" rIns="0" bIns="0" rtlCol="0" anchor="ctr"/>
          <a:lstStyle/>
          <a:p>
            <a:pPr marL="0" indent="0">
              <a:buNone/>
            </a:pPr>
            <a:r>
              <a:rPr lang="en-US" sz="1250">
                <a:solidFill>
                  <a:srgbClr val="98A399"/>
                </a:solidFill>
                <a:latin typeface="Calibri" pitchFamily="34" charset="0"/>
                <a:ea typeface="Calibri" pitchFamily="34" charset="-122"/>
                <a:cs typeface="Calibri" pitchFamily="34" charset="-120"/>
              </a:rPr>
              <a:t>Let’s start with a conversation</a:t>
            </a:r>
            <a:endParaRPr lang="en-US" sz="1250"/>
          </a:p>
        </p:txBody>
      </p:sp>
      <p:sp>
        <p:nvSpPr>
          <p:cNvPr id="30" name="Text 27"/>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31" name="Text 28"/>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03</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4"/>
          <a:stretch>
            <a:fillRect/>
          </a:stretch>
        </p:blipFill>
        <p:spPr>
          <a:xfrm>
            <a:off x="640080" y="246888"/>
            <a:ext cx="809100" cy="2560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0A"/>
        </a:solidFill>
        <a:effectLst/>
      </p:bgPr>
    </p:bg>
    <p:spTree>
      <p:nvGrpSpPr>
        <p:cNvPr id="1" name=""/>
        <p:cNvGrpSpPr/>
        <p:nvPr/>
      </p:nvGrpSpPr>
      <p:grpSpPr>
        <a:xfrm>
          <a:off x="0" y="0"/>
          <a:ext cx="0" cy="0"/>
          <a:chOff x="0" y="0"/>
          <a:chExt cx="0" cy="0"/>
        </a:xfrm>
      </p:grpSpPr>
      <p:pic>
        <p:nvPicPr>
          <p:cNvPr id="2" name="Image 0" descr="/agent/turn2/workspace/assets/handshake.png"/>
          <p:cNvPicPr>
            <a:picLocks noChangeAspect="1"/>
          </p:cNvPicPr>
          <p:nvPr/>
        </p:nvPicPr>
        <p:blipFill>
          <a:blip r:embed="rId3"/>
          <a:srcRect l="27875" r="27875"/>
          <a:stretch/>
        </p:blipFill>
        <p:spPr>
          <a:xfrm>
            <a:off x="7635240" y="0"/>
            <a:ext cx="4556455" cy="6858000"/>
          </a:xfrm>
          <a:prstGeom prst="rect">
            <a:avLst/>
          </a:prstGeom>
        </p:spPr>
      </p:pic>
      <p:sp>
        <p:nvSpPr>
          <p:cNvPr id="3" name="Shape 0"/>
          <p:cNvSpPr/>
          <p:nvPr/>
        </p:nvSpPr>
        <p:spPr>
          <a:xfrm>
            <a:off x="7635240" y="0"/>
            <a:ext cx="4556455" cy="6858000"/>
          </a:xfrm>
          <a:prstGeom prst="rect">
            <a:avLst/>
          </a:prstGeom>
          <a:solidFill>
            <a:srgbClr val="0A0C0A">
              <a:alpha val="45000"/>
            </a:srgbClr>
          </a:solidFill>
          <a:ln/>
        </p:spPr>
        <p:txBody>
          <a:bodyPr/>
          <a:lstStyle/>
          <a:p>
            <a:endParaRPr lang="en-ZA"/>
          </a:p>
        </p:txBody>
      </p:sp>
      <p:sp>
        <p:nvSpPr>
          <p:cNvPr id="4" name="Shape 1"/>
          <p:cNvSpPr/>
          <p:nvPr/>
        </p:nvSpPr>
        <p:spPr>
          <a:xfrm>
            <a:off x="7562088" y="0"/>
            <a:ext cx="73152" cy="6858000"/>
          </a:xfrm>
          <a:prstGeom prst="rect">
            <a:avLst/>
          </a:prstGeom>
          <a:solidFill>
            <a:srgbClr val="37B34A"/>
          </a:solidFill>
          <a:ln/>
        </p:spPr>
        <p:txBody>
          <a:bodyPr/>
          <a:lstStyle/>
          <a:p>
            <a:endParaRPr lang="en-ZA"/>
          </a:p>
        </p:txBody>
      </p:sp>
      <p:sp>
        <p:nvSpPr>
          <p:cNvPr id="5" name="Text 2"/>
          <p:cNvSpPr/>
          <p:nvPr/>
        </p:nvSpPr>
        <p:spPr>
          <a:xfrm>
            <a:off x="713232" y="868680"/>
            <a:ext cx="5486400" cy="292608"/>
          </a:xfrm>
          <a:prstGeom prst="rect">
            <a:avLst/>
          </a:prstGeom>
          <a:noFill/>
          <a:ln/>
        </p:spPr>
        <p:txBody>
          <a:bodyPr wrap="square" lIns="0" tIns="0" rIns="0" bIns="0" rtlCol="0" anchor="ctr"/>
          <a:lstStyle/>
          <a:p>
            <a:pPr marL="0" indent="0">
              <a:buNone/>
            </a:pPr>
            <a:r>
              <a:rPr lang="en-US" sz="1250" b="1" kern="0" spc="300" dirty="0">
                <a:solidFill>
                  <a:srgbClr val="37B34A"/>
                </a:solidFill>
                <a:latin typeface="Arial" pitchFamily="34" charset="0"/>
                <a:ea typeface="Arial" pitchFamily="34" charset="-122"/>
                <a:cs typeface="Arial" pitchFamily="34" charset="-120"/>
              </a:rPr>
              <a:t>01 — INTRODUCTION</a:t>
            </a:r>
            <a:endParaRPr lang="en-US" sz="1250" dirty="0"/>
          </a:p>
        </p:txBody>
      </p:sp>
      <p:sp>
        <p:nvSpPr>
          <p:cNvPr id="6" name="Text 3"/>
          <p:cNvSpPr/>
          <p:nvPr/>
        </p:nvSpPr>
        <p:spPr>
          <a:xfrm>
            <a:off x="640080" y="1234440"/>
            <a:ext cx="6766560" cy="1188720"/>
          </a:xfrm>
          <a:prstGeom prst="rect">
            <a:avLst/>
          </a:prstGeom>
          <a:noFill/>
          <a:ln/>
        </p:spPr>
        <p:txBody>
          <a:bodyPr wrap="square" lIns="0" tIns="0" rIns="0" bIns="0" rtlCol="0" anchor="ctr"/>
          <a:lstStyle/>
          <a:p>
            <a:pPr marL="0" indent="0">
              <a:buNone/>
            </a:pPr>
            <a:r>
              <a:rPr lang="en-US" sz="6400" b="1">
                <a:solidFill>
                  <a:srgbClr val="F0F2ED"/>
                </a:solidFill>
                <a:latin typeface="Arial" pitchFamily="34" charset="0"/>
                <a:ea typeface="Arial" pitchFamily="34" charset="-122"/>
                <a:cs typeface="Arial" pitchFamily="34" charset="-120"/>
              </a:rPr>
              <a:t>Hello.</a:t>
            </a:r>
            <a:endParaRPr lang="en-US" sz="6400"/>
          </a:p>
        </p:txBody>
      </p:sp>
      <p:sp>
        <p:nvSpPr>
          <p:cNvPr id="7" name="Text 4"/>
          <p:cNvSpPr/>
          <p:nvPr/>
        </p:nvSpPr>
        <p:spPr>
          <a:xfrm>
            <a:off x="685800" y="2515000"/>
            <a:ext cx="6400800" cy="2720000"/>
          </a:xfrm>
          <a:prstGeom prst="rect">
            <a:avLst/>
          </a:prstGeom>
          <a:noFill/>
          <a:ln/>
        </p:spPr>
        <p:txBody>
          <a:bodyPr wrap="square" lIns="0" tIns="0" rIns="0" bIns="0" rtlCol="0" anchor="t"/>
          <a:lstStyle/>
          <a:p>
            <a:pPr marL="0" indent="0">
              <a:lnSpc>
                <a:spcPct val="114000"/>
              </a:lnSpc>
              <a:buNone/>
            </a:pPr>
            <a:r>
              <a:rPr lang="en-US" sz="1500" dirty="0">
                <a:solidFill>
                  <a:srgbClr val="F0F2ED"/>
                </a:solidFill>
                <a:latin typeface="Calibri" pitchFamily="34" charset="0"/>
                <a:ea typeface="Calibri" pitchFamily="34" charset="-122"/>
                <a:cs typeface="Calibri" pitchFamily="34" charset="-120"/>
              </a:rPr>
              <a:t>Plus3 is a modern technology partner built on its founder’s 15+ years of international consulting experience. We help </a:t>
            </a:r>
            <a:r>
              <a:rPr lang="en-US" sz="1500" dirty="0" err="1">
                <a:solidFill>
                  <a:srgbClr val="F0F2ED"/>
                </a:solidFill>
                <a:latin typeface="Calibri" pitchFamily="34" charset="0"/>
                <a:ea typeface="Calibri" pitchFamily="34" charset="-122"/>
                <a:cs typeface="Calibri" pitchFamily="34" charset="-120"/>
              </a:rPr>
              <a:t>organisations</a:t>
            </a:r>
            <a:r>
              <a:rPr lang="en-US" sz="1500" dirty="0">
                <a:solidFill>
                  <a:srgbClr val="F0F2ED"/>
                </a:solidFill>
                <a:latin typeface="Calibri" pitchFamily="34" charset="0"/>
                <a:ea typeface="Calibri" pitchFamily="34" charset="-122"/>
                <a:cs typeface="Calibri" pitchFamily="34" charset="-120"/>
              </a:rPr>
              <a:t> turn ideas into practical, scalable digital solutions, leading with outcomes — smarter delivery, better results and partnerships that last.</a:t>
            </a:r>
            <a:endParaRPr lang="en-US" sz="1500" dirty="0"/>
          </a:p>
          <a:p>
            <a:pPr marL="0" indent="0">
              <a:lnSpc>
                <a:spcPct val="114000"/>
              </a:lnSpc>
              <a:spcBef>
                <a:spcPts val="700"/>
              </a:spcBef>
              <a:buNone/>
            </a:pPr>
            <a:r>
              <a:rPr lang="en-US" sz="1500" dirty="0">
                <a:solidFill>
                  <a:srgbClr val="F0F2ED"/>
                </a:solidFill>
                <a:latin typeface="Calibri" pitchFamily="34" charset="0"/>
                <a:ea typeface="Calibri" pitchFamily="34" charset="-122"/>
                <a:cs typeface="Calibri" pitchFamily="34" charset="-120"/>
              </a:rPr>
              <a:t>We’re a relationship-driven professional services partner. We take the time to understand each unique business and tailor custom outsourcing solutions to fit. Our network of joint ventures, partners and specialists works alongside your teams across custom development, analysis and quality assurance — turning your vision into reality.</a:t>
            </a:r>
            <a:endParaRPr lang="en-US" sz="1500" dirty="0"/>
          </a:p>
        </p:txBody>
      </p:sp>
      <p:sp>
        <p:nvSpPr>
          <p:cNvPr id="8" name="Text 5"/>
          <p:cNvSpPr/>
          <p:nvPr/>
        </p:nvSpPr>
        <p:spPr>
          <a:xfrm>
            <a:off x="3886200" y="5326840"/>
            <a:ext cx="533400" cy="777240"/>
          </a:xfrm>
          <a:prstGeom prst="rect">
            <a:avLst/>
          </a:prstGeom>
          <a:noFill/>
          <a:ln/>
        </p:spPr>
        <p:txBody>
          <a:bodyPr wrap="square" lIns="0" tIns="0" rIns="0" bIns="0" rtlCol="0" anchor="ctr"/>
          <a:lstStyle/>
          <a:p>
            <a:pPr marL="0" indent="0">
              <a:buNone/>
            </a:pPr>
            <a:r>
              <a:rPr lang="en-US" sz="4600" b="1" dirty="0">
                <a:solidFill>
                  <a:srgbClr val="37B34A"/>
                </a:solidFill>
                <a:latin typeface="Arial" pitchFamily="34" charset="0"/>
                <a:ea typeface="Arial" pitchFamily="34" charset="-122"/>
                <a:cs typeface="Arial" pitchFamily="34" charset="-120"/>
              </a:rPr>
              <a:t>3</a:t>
            </a:r>
            <a:endParaRPr lang="en-US" sz="4600" dirty="0"/>
          </a:p>
        </p:txBody>
      </p:sp>
      <p:sp>
        <p:nvSpPr>
          <p:cNvPr id="9" name="Text 6"/>
          <p:cNvSpPr/>
          <p:nvPr/>
        </p:nvSpPr>
        <p:spPr>
          <a:xfrm>
            <a:off x="3782567" y="6057871"/>
            <a:ext cx="3742945" cy="276098"/>
          </a:xfrm>
          <a:prstGeom prst="rect">
            <a:avLst/>
          </a:prstGeom>
          <a:noFill/>
          <a:ln/>
        </p:spPr>
        <p:txBody>
          <a:bodyPr wrap="square" lIns="0" tIns="0" rIns="0" bIns="0" rtlCol="0" anchor="ctr"/>
          <a:lstStyle/>
          <a:p>
            <a:pPr marL="0" indent="0">
              <a:buNone/>
            </a:pPr>
            <a:r>
              <a:rPr lang="en-US" sz="1400" dirty="0">
                <a:solidFill>
                  <a:srgbClr val="98A399"/>
                </a:solidFill>
                <a:latin typeface="Calibri" pitchFamily="34" charset="0"/>
                <a:ea typeface="Calibri" pitchFamily="34" charset="-122"/>
                <a:cs typeface="Calibri" pitchFamily="34" charset="-120"/>
              </a:rPr>
              <a:t>Ps we live by: Professional, Personal, Practical</a:t>
            </a:r>
            <a:endParaRPr lang="en-US" sz="1400" dirty="0"/>
          </a:p>
        </p:txBody>
      </p:sp>
      <p:sp>
        <p:nvSpPr>
          <p:cNvPr id="12" name="Text 9"/>
          <p:cNvSpPr/>
          <p:nvPr/>
        </p:nvSpPr>
        <p:spPr>
          <a:xfrm>
            <a:off x="68580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13" name="Text 10"/>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04</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4"/>
          <a:stretch>
            <a:fillRect/>
          </a:stretch>
        </p:blipFill>
        <p:spPr>
          <a:xfrm>
            <a:off x="685800" y="283464"/>
            <a:ext cx="809100" cy="256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0A"/>
        </a:solidFill>
        <a:effectLst/>
      </p:bgPr>
    </p:bg>
    <p:spTree>
      <p:nvGrpSpPr>
        <p:cNvPr id="1" name=""/>
        <p:cNvGrpSpPr/>
        <p:nvPr/>
      </p:nvGrpSpPr>
      <p:grpSpPr>
        <a:xfrm>
          <a:off x="0" y="0"/>
          <a:ext cx="0" cy="0"/>
          <a:chOff x="0" y="0"/>
          <a:chExt cx="0" cy="0"/>
        </a:xfrm>
      </p:grpSpPr>
      <p:sp>
        <p:nvSpPr>
          <p:cNvPr id="2" name="Text 0"/>
          <p:cNvSpPr/>
          <p:nvPr/>
        </p:nvSpPr>
        <p:spPr>
          <a:xfrm>
            <a:off x="640080" y="767221"/>
            <a:ext cx="5486400" cy="292608"/>
          </a:xfrm>
          <a:prstGeom prst="rect">
            <a:avLst/>
          </a:prstGeom>
          <a:noFill/>
          <a:ln/>
        </p:spPr>
        <p:txBody>
          <a:bodyPr wrap="square" lIns="0" tIns="0" rIns="0" bIns="0" rtlCol="0" anchor="ctr"/>
          <a:lstStyle/>
          <a:p>
            <a:pPr marL="0" indent="0">
              <a:buNone/>
            </a:pPr>
            <a:r>
              <a:rPr lang="en-US" sz="1250" b="1" kern="0" spc="300">
                <a:solidFill>
                  <a:srgbClr val="37B34A"/>
                </a:solidFill>
                <a:latin typeface="Arial" pitchFamily="34" charset="0"/>
                <a:ea typeface="Arial" pitchFamily="34" charset="-122"/>
                <a:cs typeface="Arial" pitchFamily="34" charset="-120"/>
              </a:rPr>
              <a:t>02 — ABOUT PLUS3</a:t>
            </a:r>
            <a:endParaRPr lang="en-US" sz="1250"/>
          </a:p>
        </p:txBody>
      </p:sp>
      <p:sp>
        <p:nvSpPr>
          <p:cNvPr id="3" name="Text 1"/>
          <p:cNvSpPr/>
          <p:nvPr/>
        </p:nvSpPr>
        <p:spPr>
          <a:xfrm>
            <a:off x="640080" y="1086385"/>
            <a:ext cx="10789920" cy="777240"/>
          </a:xfrm>
          <a:prstGeom prst="rect">
            <a:avLst/>
          </a:prstGeom>
          <a:noFill/>
          <a:ln/>
        </p:spPr>
        <p:txBody>
          <a:bodyPr wrap="square" lIns="0" tIns="0" rIns="0" bIns="0" rtlCol="0" anchor="ctr"/>
          <a:lstStyle/>
          <a:p>
            <a:pPr marL="0" indent="0">
              <a:buNone/>
            </a:pPr>
            <a:r>
              <a:rPr lang="en-US" sz="3600" b="1">
                <a:solidFill>
                  <a:srgbClr val="F0F2ED"/>
                </a:solidFill>
                <a:latin typeface="Arial" pitchFamily="34" charset="0"/>
                <a:ea typeface="Arial" pitchFamily="34" charset="-122"/>
                <a:cs typeface="Arial" pitchFamily="34" charset="-120"/>
              </a:rPr>
              <a:t>Built differently from day one</a:t>
            </a:r>
            <a:endParaRPr lang="en-US" sz="3600"/>
          </a:p>
        </p:txBody>
      </p:sp>
      <p:sp>
        <p:nvSpPr>
          <p:cNvPr id="4" name="Shape 2"/>
          <p:cNvSpPr/>
          <p:nvPr/>
        </p:nvSpPr>
        <p:spPr>
          <a:xfrm>
            <a:off x="640080" y="2057400"/>
            <a:ext cx="3456432" cy="397764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5" name="Shape 3"/>
          <p:cNvSpPr/>
          <p:nvPr/>
        </p:nvSpPr>
        <p:spPr>
          <a:xfrm>
            <a:off x="640080" y="2057400"/>
            <a:ext cx="3456432" cy="109728"/>
          </a:xfrm>
          <a:prstGeom prst="rect">
            <a:avLst/>
          </a:prstGeom>
          <a:solidFill>
            <a:srgbClr val="37B34A"/>
          </a:solidFill>
          <a:ln/>
        </p:spPr>
        <p:txBody>
          <a:bodyPr/>
          <a:lstStyle/>
          <a:p>
            <a:endParaRPr lang="en-ZA"/>
          </a:p>
        </p:txBody>
      </p:sp>
      <p:sp>
        <p:nvSpPr>
          <p:cNvPr id="6" name="Text 4"/>
          <p:cNvSpPr/>
          <p:nvPr/>
        </p:nvSpPr>
        <p:spPr>
          <a:xfrm>
            <a:off x="1051560" y="2468880"/>
            <a:ext cx="1828800" cy="640080"/>
          </a:xfrm>
          <a:prstGeom prst="rect">
            <a:avLst/>
          </a:prstGeom>
          <a:noFill/>
          <a:ln/>
        </p:spPr>
        <p:txBody>
          <a:bodyPr wrap="square" lIns="0" tIns="0" rIns="0" bIns="0" rtlCol="0" anchor="ctr"/>
          <a:lstStyle/>
          <a:p>
            <a:pPr marL="0" indent="0">
              <a:buNone/>
            </a:pPr>
            <a:r>
              <a:rPr lang="en-US" sz="3000" b="1">
                <a:solidFill>
                  <a:srgbClr val="1E5B24"/>
                </a:solidFill>
                <a:latin typeface="Arial" pitchFamily="34" charset="0"/>
                <a:ea typeface="Arial" pitchFamily="34" charset="-122"/>
                <a:cs typeface="Arial" pitchFamily="34" charset="-120"/>
              </a:rPr>
              <a:t>01</a:t>
            </a:r>
            <a:endParaRPr lang="en-US" sz="3000"/>
          </a:p>
        </p:txBody>
      </p:sp>
      <p:sp>
        <p:nvSpPr>
          <p:cNvPr id="7" name="Text 5"/>
          <p:cNvSpPr/>
          <p:nvPr/>
        </p:nvSpPr>
        <p:spPr>
          <a:xfrm>
            <a:off x="1051560" y="3200400"/>
            <a:ext cx="2633472" cy="548640"/>
          </a:xfrm>
          <a:prstGeom prst="rect">
            <a:avLst/>
          </a:prstGeom>
          <a:noFill/>
          <a:ln/>
        </p:spPr>
        <p:txBody>
          <a:bodyPr wrap="square" lIns="0" tIns="0" rIns="0" bIns="0" rtlCol="0" anchor="ctr"/>
          <a:lstStyle/>
          <a:p>
            <a:pPr marL="0" indent="0">
              <a:buNone/>
            </a:pPr>
            <a:r>
              <a:rPr lang="en-US" sz="2300" b="1">
                <a:solidFill>
                  <a:srgbClr val="61D26B"/>
                </a:solidFill>
                <a:latin typeface="Arial" pitchFamily="34" charset="0"/>
                <a:ea typeface="Arial" pitchFamily="34" charset="-122"/>
                <a:cs typeface="Arial" pitchFamily="34" charset="-120"/>
              </a:rPr>
              <a:t>Outcome-Focused</a:t>
            </a:r>
            <a:endParaRPr lang="en-US" sz="2300"/>
          </a:p>
        </p:txBody>
      </p:sp>
      <p:sp>
        <p:nvSpPr>
          <p:cNvPr id="8" name="Text 6"/>
          <p:cNvSpPr/>
          <p:nvPr/>
        </p:nvSpPr>
        <p:spPr>
          <a:xfrm>
            <a:off x="1051560" y="3840480"/>
            <a:ext cx="2679192" cy="2011680"/>
          </a:xfrm>
          <a:prstGeom prst="rect">
            <a:avLst/>
          </a:prstGeom>
          <a:noFill/>
          <a:ln/>
        </p:spPr>
        <p:txBody>
          <a:bodyPr wrap="square" lIns="0" tIns="0" rIns="0" bIns="0" rtlCol="0" anchor="t"/>
          <a:lstStyle/>
          <a:p>
            <a:pPr marL="0" indent="0">
              <a:lnSpc>
                <a:spcPct val="122000"/>
              </a:lnSpc>
              <a:buNone/>
            </a:pPr>
            <a:r>
              <a:rPr lang="en-US" sz="1450">
                <a:solidFill>
                  <a:srgbClr val="F0F2ED"/>
                </a:solidFill>
                <a:latin typeface="Calibri" pitchFamily="34" charset="0"/>
                <a:ea typeface="Calibri" pitchFamily="34" charset="-122"/>
                <a:cs typeface="Calibri" pitchFamily="34" charset="-120"/>
              </a:rPr>
              <a:t>We measure success by the results we create for your business — real outcomes, not feature counts or hours billed.</a:t>
            </a:r>
            <a:endParaRPr lang="en-US" sz="1450"/>
          </a:p>
        </p:txBody>
      </p:sp>
      <p:sp>
        <p:nvSpPr>
          <p:cNvPr id="9" name="Shape 7"/>
          <p:cNvSpPr/>
          <p:nvPr/>
        </p:nvSpPr>
        <p:spPr>
          <a:xfrm>
            <a:off x="4425696" y="2057400"/>
            <a:ext cx="3456432" cy="397764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0" name="Shape 8"/>
          <p:cNvSpPr/>
          <p:nvPr/>
        </p:nvSpPr>
        <p:spPr>
          <a:xfrm>
            <a:off x="4425696" y="2057400"/>
            <a:ext cx="3456432" cy="109728"/>
          </a:xfrm>
          <a:prstGeom prst="rect">
            <a:avLst/>
          </a:prstGeom>
          <a:solidFill>
            <a:srgbClr val="37B34A"/>
          </a:solidFill>
          <a:ln/>
        </p:spPr>
        <p:txBody>
          <a:bodyPr/>
          <a:lstStyle/>
          <a:p>
            <a:endParaRPr lang="en-ZA"/>
          </a:p>
        </p:txBody>
      </p:sp>
      <p:sp>
        <p:nvSpPr>
          <p:cNvPr id="11" name="Text 9"/>
          <p:cNvSpPr/>
          <p:nvPr/>
        </p:nvSpPr>
        <p:spPr>
          <a:xfrm>
            <a:off x="4837176" y="2468880"/>
            <a:ext cx="1828800" cy="640080"/>
          </a:xfrm>
          <a:prstGeom prst="rect">
            <a:avLst/>
          </a:prstGeom>
          <a:noFill/>
          <a:ln/>
        </p:spPr>
        <p:txBody>
          <a:bodyPr wrap="square" lIns="0" tIns="0" rIns="0" bIns="0" rtlCol="0" anchor="ctr"/>
          <a:lstStyle/>
          <a:p>
            <a:pPr marL="0" indent="0">
              <a:buNone/>
            </a:pPr>
            <a:r>
              <a:rPr lang="en-US" sz="3000" b="1">
                <a:solidFill>
                  <a:srgbClr val="1E5B24"/>
                </a:solidFill>
                <a:latin typeface="Arial" pitchFamily="34" charset="0"/>
                <a:ea typeface="Arial" pitchFamily="34" charset="-122"/>
                <a:cs typeface="Arial" pitchFamily="34" charset="-120"/>
              </a:rPr>
              <a:t>02</a:t>
            </a:r>
            <a:endParaRPr lang="en-US" sz="3000"/>
          </a:p>
        </p:txBody>
      </p:sp>
      <p:sp>
        <p:nvSpPr>
          <p:cNvPr id="12" name="Text 10"/>
          <p:cNvSpPr/>
          <p:nvPr/>
        </p:nvSpPr>
        <p:spPr>
          <a:xfrm>
            <a:off x="4837176" y="3200400"/>
            <a:ext cx="2633472" cy="548640"/>
          </a:xfrm>
          <a:prstGeom prst="rect">
            <a:avLst/>
          </a:prstGeom>
          <a:noFill/>
          <a:ln/>
        </p:spPr>
        <p:txBody>
          <a:bodyPr wrap="square" lIns="0" tIns="0" rIns="0" bIns="0" rtlCol="0" anchor="ctr"/>
          <a:lstStyle/>
          <a:p>
            <a:pPr marL="0" indent="0">
              <a:buNone/>
            </a:pPr>
            <a:r>
              <a:rPr lang="en-US" sz="2300" b="1">
                <a:solidFill>
                  <a:srgbClr val="61D26B"/>
                </a:solidFill>
                <a:latin typeface="Arial" pitchFamily="34" charset="0"/>
                <a:ea typeface="Arial" pitchFamily="34" charset="-122"/>
                <a:cs typeface="Arial" pitchFamily="34" charset="-120"/>
              </a:rPr>
              <a:t>Relationship-Driven</a:t>
            </a:r>
            <a:endParaRPr lang="en-US" sz="2300"/>
          </a:p>
        </p:txBody>
      </p:sp>
      <p:sp>
        <p:nvSpPr>
          <p:cNvPr id="13" name="Text 11"/>
          <p:cNvSpPr/>
          <p:nvPr/>
        </p:nvSpPr>
        <p:spPr>
          <a:xfrm>
            <a:off x="4837176" y="3840480"/>
            <a:ext cx="2679192" cy="2011680"/>
          </a:xfrm>
          <a:prstGeom prst="rect">
            <a:avLst/>
          </a:prstGeom>
          <a:noFill/>
          <a:ln/>
        </p:spPr>
        <p:txBody>
          <a:bodyPr wrap="square" lIns="0" tIns="0" rIns="0" bIns="0" rtlCol="0" anchor="t"/>
          <a:lstStyle/>
          <a:p>
            <a:pPr marL="0" indent="0">
              <a:lnSpc>
                <a:spcPct val="122000"/>
              </a:lnSpc>
              <a:buNone/>
            </a:pPr>
            <a:r>
              <a:rPr lang="en-US" sz="1450">
                <a:solidFill>
                  <a:srgbClr val="F0F2ED"/>
                </a:solidFill>
                <a:latin typeface="Calibri" pitchFamily="34" charset="0"/>
                <a:ea typeface="Calibri" pitchFamily="34" charset="-122"/>
                <a:cs typeface="Calibri" pitchFamily="34" charset="-120"/>
              </a:rPr>
              <a:t>Long-term partnerships built on trust and embedded teams that align closely with your stakeholders and goals.</a:t>
            </a:r>
            <a:endParaRPr lang="en-US" sz="1450"/>
          </a:p>
        </p:txBody>
      </p:sp>
      <p:sp>
        <p:nvSpPr>
          <p:cNvPr id="14" name="Shape 12"/>
          <p:cNvSpPr/>
          <p:nvPr/>
        </p:nvSpPr>
        <p:spPr>
          <a:xfrm>
            <a:off x="8211312" y="2057400"/>
            <a:ext cx="3456432" cy="397764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5" name="Shape 13"/>
          <p:cNvSpPr/>
          <p:nvPr/>
        </p:nvSpPr>
        <p:spPr>
          <a:xfrm>
            <a:off x="8211312" y="2057400"/>
            <a:ext cx="3456432" cy="109728"/>
          </a:xfrm>
          <a:prstGeom prst="rect">
            <a:avLst/>
          </a:prstGeom>
          <a:solidFill>
            <a:srgbClr val="37B34A"/>
          </a:solidFill>
          <a:ln/>
        </p:spPr>
        <p:txBody>
          <a:bodyPr/>
          <a:lstStyle/>
          <a:p>
            <a:endParaRPr lang="en-ZA"/>
          </a:p>
        </p:txBody>
      </p:sp>
      <p:sp>
        <p:nvSpPr>
          <p:cNvPr id="16" name="Text 14"/>
          <p:cNvSpPr/>
          <p:nvPr/>
        </p:nvSpPr>
        <p:spPr>
          <a:xfrm>
            <a:off x="8622792" y="2468880"/>
            <a:ext cx="1828800" cy="640080"/>
          </a:xfrm>
          <a:prstGeom prst="rect">
            <a:avLst/>
          </a:prstGeom>
          <a:noFill/>
          <a:ln/>
        </p:spPr>
        <p:txBody>
          <a:bodyPr wrap="square" lIns="0" tIns="0" rIns="0" bIns="0" rtlCol="0" anchor="ctr"/>
          <a:lstStyle/>
          <a:p>
            <a:pPr marL="0" indent="0">
              <a:buNone/>
            </a:pPr>
            <a:r>
              <a:rPr lang="en-US" sz="3000" b="1">
                <a:solidFill>
                  <a:srgbClr val="1E5B24"/>
                </a:solidFill>
                <a:latin typeface="Arial" pitchFamily="34" charset="0"/>
                <a:ea typeface="Arial" pitchFamily="34" charset="-122"/>
                <a:cs typeface="Arial" pitchFamily="34" charset="-120"/>
              </a:rPr>
              <a:t>03</a:t>
            </a:r>
            <a:endParaRPr lang="en-US" sz="3000"/>
          </a:p>
        </p:txBody>
      </p:sp>
      <p:sp>
        <p:nvSpPr>
          <p:cNvPr id="17" name="Text 15"/>
          <p:cNvSpPr/>
          <p:nvPr/>
        </p:nvSpPr>
        <p:spPr>
          <a:xfrm>
            <a:off x="8622792" y="3200400"/>
            <a:ext cx="2633472" cy="548640"/>
          </a:xfrm>
          <a:prstGeom prst="rect">
            <a:avLst/>
          </a:prstGeom>
          <a:noFill/>
          <a:ln/>
        </p:spPr>
        <p:txBody>
          <a:bodyPr wrap="square" lIns="0" tIns="0" rIns="0" bIns="0" rtlCol="0" anchor="ctr"/>
          <a:lstStyle/>
          <a:p>
            <a:pPr marL="0" indent="0">
              <a:buNone/>
            </a:pPr>
            <a:r>
              <a:rPr lang="en-US" sz="2300" b="1">
                <a:solidFill>
                  <a:srgbClr val="61D26B"/>
                </a:solidFill>
                <a:latin typeface="Arial" pitchFamily="34" charset="0"/>
                <a:ea typeface="Arial" pitchFamily="34" charset="-122"/>
                <a:cs typeface="Arial" pitchFamily="34" charset="-120"/>
              </a:rPr>
              <a:t>Senior, Yet Practical</a:t>
            </a:r>
            <a:endParaRPr lang="en-US" sz="2300"/>
          </a:p>
        </p:txBody>
      </p:sp>
      <p:sp>
        <p:nvSpPr>
          <p:cNvPr id="18" name="Text 16"/>
          <p:cNvSpPr/>
          <p:nvPr/>
        </p:nvSpPr>
        <p:spPr>
          <a:xfrm>
            <a:off x="8622792" y="3840480"/>
            <a:ext cx="2679192" cy="2011680"/>
          </a:xfrm>
          <a:prstGeom prst="rect">
            <a:avLst/>
          </a:prstGeom>
          <a:noFill/>
          <a:ln/>
        </p:spPr>
        <p:txBody>
          <a:bodyPr wrap="square" lIns="0" tIns="0" rIns="0" bIns="0" rtlCol="0" anchor="t"/>
          <a:lstStyle/>
          <a:p>
            <a:pPr marL="0" indent="0">
              <a:lnSpc>
                <a:spcPct val="122000"/>
              </a:lnSpc>
              <a:buNone/>
            </a:pPr>
            <a:r>
              <a:rPr lang="en-US" sz="1450">
                <a:solidFill>
                  <a:srgbClr val="F0F2ED"/>
                </a:solidFill>
                <a:latin typeface="Calibri" pitchFamily="34" charset="0"/>
                <a:ea typeface="Calibri" pitchFamily="34" charset="-122"/>
                <a:cs typeface="Calibri" pitchFamily="34" charset="-120"/>
              </a:rPr>
              <a:t>Senior consulting experience paired with delivery models that work within real budgets, timelines and constraints.</a:t>
            </a:r>
            <a:endParaRPr lang="en-US" sz="1450"/>
          </a:p>
        </p:txBody>
      </p:sp>
      <p:sp>
        <p:nvSpPr>
          <p:cNvPr id="19" name="Text 17"/>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20" name="Text 18"/>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05</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3"/>
          <a:stretch>
            <a:fillRect/>
          </a:stretch>
        </p:blipFill>
        <p:spPr>
          <a:xfrm>
            <a:off x="640080" y="210312"/>
            <a:ext cx="809100" cy="2560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0A"/>
        </a:solidFill>
        <a:effectLst/>
      </p:bgPr>
    </p:bg>
    <p:spTree>
      <p:nvGrpSpPr>
        <p:cNvPr id="1" name=""/>
        <p:cNvGrpSpPr/>
        <p:nvPr/>
      </p:nvGrpSpPr>
      <p:grpSpPr>
        <a:xfrm>
          <a:off x="0" y="0"/>
          <a:ext cx="0" cy="0"/>
          <a:chOff x="0" y="0"/>
          <a:chExt cx="0" cy="0"/>
        </a:xfrm>
      </p:grpSpPr>
      <p:sp>
        <p:nvSpPr>
          <p:cNvPr id="2" name="Text 0"/>
          <p:cNvSpPr/>
          <p:nvPr/>
        </p:nvSpPr>
        <p:spPr>
          <a:xfrm>
            <a:off x="640080" y="585216"/>
            <a:ext cx="5486400" cy="292608"/>
          </a:xfrm>
          <a:prstGeom prst="rect">
            <a:avLst/>
          </a:prstGeom>
          <a:noFill/>
          <a:ln/>
        </p:spPr>
        <p:txBody>
          <a:bodyPr wrap="square" lIns="0" tIns="0" rIns="0" bIns="0" rtlCol="0" anchor="ctr"/>
          <a:lstStyle/>
          <a:p>
            <a:pPr marL="0" indent="0">
              <a:buNone/>
            </a:pPr>
            <a:r>
              <a:rPr lang="en-US" sz="1250" b="1" kern="0" spc="300">
                <a:solidFill>
                  <a:srgbClr val="37B34A"/>
                </a:solidFill>
                <a:latin typeface="Arial" pitchFamily="34" charset="0"/>
                <a:ea typeface="Arial" pitchFamily="34" charset="-122"/>
                <a:cs typeface="Arial" pitchFamily="34" charset="-120"/>
              </a:rPr>
              <a:t>03 — OUR SERVICES</a:t>
            </a:r>
            <a:endParaRPr lang="en-US" sz="1250"/>
          </a:p>
        </p:txBody>
      </p:sp>
      <p:sp>
        <p:nvSpPr>
          <p:cNvPr id="3" name="Text 1"/>
          <p:cNvSpPr/>
          <p:nvPr/>
        </p:nvSpPr>
        <p:spPr>
          <a:xfrm>
            <a:off x="640080" y="877824"/>
            <a:ext cx="10789920" cy="731520"/>
          </a:xfrm>
          <a:prstGeom prst="rect">
            <a:avLst/>
          </a:prstGeom>
          <a:noFill/>
          <a:ln/>
        </p:spPr>
        <p:txBody>
          <a:bodyPr wrap="square" lIns="0" tIns="0" rIns="0" bIns="0" rtlCol="0" anchor="ctr"/>
          <a:lstStyle/>
          <a:p>
            <a:pPr marL="0" indent="0">
              <a:buNone/>
            </a:pPr>
            <a:r>
              <a:rPr lang="en-US" sz="3400" b="1">
                <a:solidFill>
                  <a:srgbClr val="F0F2ED"/>
                </a:solidFill>
                <a:latin typeface="Arial" pitchFamily="34" charset="0"/>
                <a:ea typeface="Arial" pitchFamily="34" charset="-122"/>
                <a:cs typeface="Arial" pitchFamily="34" charset="-120"/>
              </a:rPr>
              <a:t>End-to-end delivery capability</a:t>
            </a:r>
            <a:endParaRPr lang="en-US" sz="3400"/>
          </a:p>
        </p:txBody>
      </p:sp>
      <p:sp>
        <p:nvSpPr>
          <p:cNvPr id="4" name="Shape 2"/>
          <p:cNvSpPr/>
          <p:nvPr/>
        </p:nvSpPr>
        <p:spPr>
          <a:xfrm>
            <a:off x="640080" y="1719072"/>
            <a:ext cx="3456432" cy="2139696"/>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5" name="Shape 3"/>
          <p:cNvSpPr/>
          <p:nvPr/>
        </p:nvSpPr>
        <p:spPr>
          <a:xfrm>
            <a:off x="640080" y="1719072"/>
            <a:ext cx="109728" cy="2139696"/>
          </a:xfrm>
          <a:prstGeom prst="rect">
            <a:avLst/>
          </a:prstGeom>
          <a:solidFill>
            <a:srgbClr val="37B34A"/>
          </a:solidFill>
          <a:ln/>
        </p:spPr>
        <p:txBody>
          <a:bodyPr/>
          <a:lstStyle/>
          <a:p>
            <a:endParaRPr lang="en-ZA"/>
          </a:p>
        </p:txBody>
      </p:sp>
      <p:sp>
        <p:nvSpPr>
          <p:cNvPr id="6" name="Text 4"/>
          <p:cNvSpPr/>
          <p:nvPr/>
        </p:nvSpPr>
        <p:spPr>
          <a:xfrm>
            <a:off x="1024128" y="2029968"/>
            <a:ext cx="2816352" cy="777240"/>
          </a:xfrm>
          <a:prstGeom prst="rect">
            <a:avLst/>
          </a:prstGeom>
          <a:noFill/>
          <a:ln/>
        </p:spPr>
        <p:txBody>
          <a:bodyPr wrap="square" lIns="0" tIns="0" rIns="0" bIns="0" rtlCol="0" anchor="t"/>
          <a:lstStyle/>
          <a:p>
            <a:pPr marL="0" indent="0">
              <a:buNone/>
            </a:pPr>
            <a:r>
              <a:rPr lang="en-US" sz="1750" b="1">
                <a:solidFill>
                  <a:srgbClr val="61D26B"/>
                </a:solidFill>
                <a:latin typeface="Arial" pitchFamily="34" charset="0"/>
                <a:ea typeface="Arial" pitchFamily="34" charset="-122"/>
                <a:cs typeface="Arial" pitchFamily="34" charset="-120"/>
              </a:rPr>
              <a:t>Consulting &amp; Roadmaps</a:t>
            </a:r>
            <a:endParaRPr lang="en-US" sz="1750"/>
          </a:p>
        </p:txBody>
      </p:sp>
      <p:sp>
        <p:nvSpPr>
          <p:cNvPr id="7" name="Text 5"/>
          <p:cNvSpPr/>
          <p:nvPr/>
        </p:nvSpPr>
        <p:spPr>
          <a:xfrm>
            <a:off x="1024128" y="2834640"/>
            <a:ext cx="2798064" cy="960120"/>
          </a:xfrm>
          <a:prstGeom prst="rect">
            <a:avLst/>
          </a:prstGeom>
          <a:noFill/>
          <a:ln/>
        </p:spPr>
        <p:txBody>
          <a:bodyPr wrap="square" lIns="0" tIns="0" rIns="0" bIns="0" rtlCol="0" anchor="t"/>
          <a:lstStyle/>
          <a:p>
            <a:pPr marL="0" indent="0">
              <a:lnSpc>
                <a:spcPct val="118000"/>
              </a:lnSpc>
              <a:buNone/>
            </a:pPr>
            <a:r>
              <a:rPr lang="en-US" sz="1300">
                <a:solidFill>
                  <a:srgbClr val="F0F2ED"/>
                </a:solidFill>
                <a:latin typeface="Calibri" pitchFamily="34" charset="0"/>
                <a:ea typeface="Calibri" pitchFamily="34" charset="-122"/>
                <a:cs typeface="Calibri" pitchFamily="34" charset="-120"/>
              </a:rPr>
              <a:t>Define direction, prioritise initiatives and design practical delivery roadmaps aligned to business goals.</a:t>
            </a:r>
            <a:endParaRPr lang="en-US" sz="1300"/>
          </a:p>
        </p:txBody>
      </p:sp>
      <p:sp>
        <p:nvSpPr>
          <p:cNvPr id="8" name="Shape 6"/>
          <p:cNvSpPr/>
          <p:nvPr/>
        </p:nvSpPr>
        <p:spPr>
          <a:xfrm>
            <a:off x="4425696" y="1719072"/>
            <a:ext cx="3456432" cy="2139696"/>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9" name="Shape 7"/>
          <p:cNvSpPr/>
          <p:nvPr/>
        </p:nvSpPr>
        <p:spPr>
          <a:xfrm>
            <a:off x="4425696" y="1719072"/>
            <a:ext cx="109728" cy="2139696"/>
          </a:xfrm>
          <a:prstGeom prst="rect">
            <a:avLst/>
          </a:prstGeom>
          <a:solidFill>
            <a:srgbClr val="37B34A"/>
          </a:solidFill>
          <a:ln/>
        </p:spPr>
        <p:txBody>
          <a:bodyPr/>
          <a:lstStyle/>
          <a:p>
            <a:endParaRPr lang="en-ZA"/>
          </a:p>
        </p:txBody>
      </p:sp>
      <p:sp>
        <p:nvSpPr>
          <p:cNvPr id="10" name="Text 8"/>
          <p:cNvSpPr/>
          <p:nvPr/>
        </p:nvSpPr>
        <p:spPr>
          <a:xfrm>
            <a:off x="4809744" y="2029968"/>
            <a:ext cx="2816352" cy="777240"/>
          </a:xfrm>
          <a:prstGeom prst="rect">
            <a:avLst/>
          </a:prstGeom>
          <a:noFill/>
          <a:ln/>
        </p:spPr>
        <p:txBody>
          <a:bodyPr wrap="square" lIns="0" tIns="0" rIns="0" bIns="0" rtlCol="0" anchor="t"/>
          <a:lstStyle/>
          <a:p>
            <a:pPr marL="0" indent="0">
              <a:buNone/>
            </a:pPr>
            <a:r>
              <a:rPr lang="en-US" sz="1750" b="1">
                <a:solidFill>
                  <a:srgbClr val="61D26B"/>
                </a:solidFill>
                <a:latin typeface="Arial" pitchFamily="34" charset="0"/>
                <a:ea typeface="Arial" pitchFamily="34" charset="-122"/>
                <a:cs typeface="Arial" pitchFamily="34" charset="-120"/>
              </a:rPr>
              <a:t>Custom Software Development</a:t>
            </a:r>
            <a:endParaRPr lang="en-US" sz="1750"/>
          </a:p>
        </p:txBody>
      </p:sp>
      <p:sp>
        <p:nvSpPr>
          <p:cNvPr id="11" name="Text 9"/>
          <p:cNvSpPr/>
          <p:nvPr/>
        </p:nvSpPr>
        <p:spPr>
          <a:xfrm>
            <a:off x="4809744" y="2834640"/>
            <a:ext cx="2798064" cy="960120"/>
          </a:xfrm>
          <a:prstGeom prst="rect">
            <a:avLst/>
          </a:prstGeom>
          <a:noFill/>
          <a:ln/>
        </p:spPr>
        <p:txBody>
          <a:bodyPr wrap="square" lIns="0" tIns="0" rIns="0" bIns="0" rtlCol="0" anchor="t"/>
          <a:lstStyle/>
          <a:p>
            <a:pPr marL="0" indent="0">
              <a:lnSpc>
                <a:spcPct val="118000"/>
              </a:lnSpc>
              <a:buNone/>
            </a:pPr>
            <a:r>
              <a:rPr lang="en-US" sz="1300">
                <a:solidFill>
                  <a:srgbClr val="F0F2ED"/>
                </a:solidFill>
                <a:latin typeface="Calibri" pitchFamily="34" charset="0"/>
                <a:ea typeface="Calibri" pitchFamily="34" charset="-122"/>
                <a:cs typeface="Calibri" pitchFamily="34" charset="-120"/>
              </a:rPr>
              <a:t>Tailored solutions that integrate with existing systems and support future scalability.</a:t>
            </a:r>
            <a:endParaRPr lang="en-US" sz="1300"/>
          </a:p>
        </p:txBody>
      </p:sp>
      <p:sp>
        <p:nvSpPr>
          <p:cNvPr id="12" name="Shape 10"/>
          <p:cNvSpPr/>
          <p:nvPr/>
        </p:nvSpPr>
        <p:spPr>
          <a:xfrm>
            <a:off x="8211312" y="1719072"/>
            <a:ext cx="3456432" cy="2139696"/>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3" name="Shape 11"/>
          <p:cNvSpPr/>
          <p:nvPr/>
        </p:nvSpPr>
        <p:spPr>
          <a:xfrm>
            <a:off x="8211312" y="1719072"/>
            <a:ext cx="109728" cy="2139696"/>
          </a:xfrm>
          <a:prstGeom prst="rect">
            <a:avLst/>
          </a:prstGeom>
          <a:solidFill>
            <a:srgbClr val="37B34A"/>
          </a:solidFill>
          <a:ln/>
        </p:spPr>
        <p:txBody>
          <a:bodyPr/>
          <a:lstStyle/>
          <a:p>
            <a:endParaRPr lang="en-ZA"/>
          </a:p>
        </p:txBody>
      </p:sp>
      <p:sp>
        <p:nvSpPr>
          <p:cNvPr id="14" name="Text 12"/>
          <p:cNvSpPr/>
          <p:nvPr/>
        </p:nvSpPr>
        <p:spPr>
          <a:xfrm>
            <a:off x="8595360" y="2029968"/>
            <a:ext cx="2816352" cy="777240"/>
          </a:xfrm>
          <a:prstGeom prst="rect">
            <a:avLst/>
          </a:prstGeom>
          <a:noFill/>
          <a:ln/>
        </p:spPr>
        <p:txBody>
          <a:bodyPr wrap="square" lIns="0" tIns="0" rIns="0" bIns="0" rtlCol="0" anchor="t"/>
          <a:lstStyle/>
          <a:p>
            <a:pPr marL="0" indent="0">
              <a:buNone/>
            </a:pPr>
            <a:r>
              <a:rPr lang="en-US" sz="1750" b="1">
                <a:solidFill>
                  <a:srgbClr val="61D26B"/>
                </a:solidFill>
                <a:latin typeface="Arial" pitchFamily="34" charset="0"/>
                <a:ea typeface="Arial" pitchFamily="34" charset="-122"/>
                <a:cs typeface="Arial" pitchFamily="34" charset="-120"/>
              </a:rPr>
              <a:t>Team Augmentation</a:t>
            </a:r>
            <a:endParaRPr lang="en-US" sz="1750"/>
          </a:p>
        </p:txBody>
      </p:sp>
      <p:sp>
        <p:nvSpPr>
          <p:cNvPr id="15" name="Text 13"/>
          <p:cNvSpPr/>
          <p:nvPr/>
        </p:nvSpPr>
        <p:spPr>
          <a:xfrm>
            <a:off x="8595360" y="2834640"/>
            <a:ext cx="2798064" cy="960120"/>
          </a:xfrm>
          <a:prstGeom prst="rect">
            <a:avLst/>
          </a:prstGeom>
          <a:noFill/>
          <a:ln/>
        </p:spPr>
        <p:txBody>
          <a:bodyPr wrap="square" lIns="0" tIns="0" rIns="0" bIns="0" rtlCol="0" anchor="t"/>
          <a:lstStyle/>
          <a:p>
            <a:pPr marL="0" indent="0">
              <a:lnSpc>
                <a:spcPct val="118000"/>
              </a:lnSpc>
              <a:buNone/>
            </a:pPr>
            <a:r>
              <a:rPr lang="en-US" sz="1300">
                <a:solidFill>
                  <a:srgbClr val="F0F2ED"/>
                </a:solidFill>
                <a:latin typeface="Calibri" pitchFamily="34" charset="0"/>
                <a:ea typeface="Calibri" pitchFamily="34" charset="-122"/>
                <a:cs typeface="Calibri" pitchFamily="34" charset="-120"/>
              </a:rPr>
              <a:t>Skilled professionals who embed directly into your teams to scale delivery without losing quality.</a:t>
            </a:r>
            <a:endParaRPr lang="en-US" sz="1300"/>
          </a:p>
        </p:txBody>
      </p:sp>
      <p:sp>
        <p:nvSpPr>
          <p:cNvPr id="16" name="Shape 14"/>
          <p:cNvSpPr/>
          <p:nvPr/>
        </p:nvSpPr>
        <p:spPr>
          <a:xfrm>
            <a:off x="640080" y="4133088"/>
            <a:ext cx="3456432" cy="2139696"/>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7" name="Shape 15"/>
          <p:cNvSpPr/>
          <p:nvPr/>
        </p:nvSpPr>
        <p:spPr>
          <a:xfrm>
            <a:off x="640080" y="4133088"/>
            <a:ext cx="109728" cy="2139696"/>
          </a:xfrm>
          <a:prstGeom prst="rect">
            <a:avLst/>
          </a:prstGeom>
          <a:solidFill>
            <a:srgbClr val="37B34A"/>
          </a:solidFill>
          <a:ln/>
        </p:spPr>
        <p:txBody>
          <a:bodyPr/>
          <a:lstStyle/>
          <a:p>
            <a:endParaRPr lang="en-ZA"/>
          </a:p>
        </p:txBody>
      </p:sp>
      <p:sp>
        <p:nvSpPr>
          <p:cNvPr id="18" name="Text 16"/>
          <p:cNvSpPr/>
          <p:nvPr/>
        </p:nvSpPr>
        <p:spPr>
          <a:xfrm>
            <a:off x="1024128" y="4443984"/>
            <a:ext cx="2816352" cy="777240"/>
          </a:xfrm>
          <a:prstGeom prst="rect">
            <a:avLst/>
          </a:prstGeom>
          <a:noFill/>
          <a:ln/>
        </p:spPr>
        <p:txBody>
          <a:bodyPr wrap="square" lIns="0" tIns="0" rIns="0" bIns="0" rtlCol="0" anchor="t"/>
          <a:lstStyle/>
          <a:p>
            <a:pPr marL="0" indent="0">
              <a:buNone/>
            </a:pPr>
            <a:r>
              <a:rPr lang="en-US" sz="1750" b="1">
                <a:solidFill>
                  <a:srgbClr val="61D26B"/>
                </a:solidFill>
                <a:latin typeface="Arial" pitchFamily="34" charset="0"/>
                <a:ea typeface="Arial" pitchFamily="34" charset="-122"/>
                <a:cs typeface="Arial" pitchFamily="34" charset="-120"/>
              </a:rPr>
              <a:t>Cloud, DevOps &amp; Data</a:t>
            </a:r>
            <a:endParaRPr lang="en-US" sz="1750"/>
          </a:p>
        </p:txBody>
      </p:sp>
      <p:sp>
        <p:nvSpPr>
          <p:cNvPr id="19" name="Text 17"/>
          <p:cNvSpPr/>
          <p:nvPr/>
        </p:nvSpPr>
        <p:spPr>
          <a:xfrm>
            <a:off x="1024128" y="5248656"/>
            <a:ext cx="2798064" cy="960120"/>
          </a:xfrm>
          <a:prstGeom prst="rect">
            <a:avLst/>
          </a:prstGeom>
          <a:noFill/>
          <a:ln/>
        </p:spPr>
        <p:txBody>
          <a:bodyPr wrap="square" lIns="0" tIns="0" rIns="0" bIns="0" rtlCol="0" anchor="t"/>
          <a:lstStyle/>
          <a:p>
            <a:pPr marL="0" indent="0">
              <a:lnSpc>
                <a:spcPct val="118000"/>
              </a:lnSpc>
              <a:buNone/>
            </a:pPr>
            <a:r>
              <a:rPr lang="en-US" sz="1300">
                <a:solidFill>
                  <a:srgbClr val="F0F2ED"/>
                </a:solidFill>
                <a:latin typeface="Calibri" pitchFamily="34" charset="0"/>
                <a:ea typeface="Calibri" pitchFamily="34" charset="-122"/>
                <a:cs typeface="Calibri" pitchFamily="34" charset="-120"/>
              </a:rPr>
              <a:t>Modern architectures and operational best practice for reliability, performance and cost efficiency.</a:t>
            </a:r>
            <a:endParaRPr lang="en-US" sz="1300"/>
          </a:p>
        </p:txBody>
      </p:sp>
      <p:sp>
        <p:nvSpPr>
          <p:cNvPr id="20" name="Shape 18"/>
          <p:cNvSpPr/>
          <p:nvPr/>
        </p:nvSpPr>
        <p:spPr>
          <a:xfrm>
            <a:off x="4425696" y="4133088"/>
            <a:ext cx="3456432" cy="2139696"/>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21" name="Shape 19"/>
          <p:cNvSpPr/>
          <p:nvPr/>
        </p:nvSpPr>
        <p:spPr>
          <a:xfrm>
            <a:off x="4425696" y="4133088"/>
            <a:ext cx="109728" cy="2139696"/>
          </a:xfrm>
          <a:prstGeom prst="rect">
            <a:avLst/>
          </a:prstGeom>
          <a:solidFill>
            <a:srgbClr val="37B34A"/>
          </a:solidFill>
          <a:ln/>
        </p:spPr>
        <p:txBody>
          <a:bodyPr/>
          <a:lstStyle/>
          <a:p>
            <a:endParaRPr lang="en-ZA"/>
          </a:p>
        </p:txBody>
      </p:sp>
      <p:sp>
        <p:nvSpPr>
          <p:cNvPr id="22" name="Text 20"/>
          <p:cNvSpPr/>
          <p:nvPr/>
        </p:nvSpPr>
        <p:spPr>
          <a:xfrm>
            <a:off x="4809744" y="4443984"/>
            <a:ext cx="2816352" cy="777240"/>
          </a:xfrm>
          <a:prstGeom prst="rect">
            <a:avLst/>
          </a:prstGeom>
          <a:noFill/>
          <a:ln/>
        </p:spPr>
        <p:txBody>
          <a:bodyPr wrap="square" lIns="0" tIns="0" rIns="0" bIns="0" rtlCol="0" anchor="t"/>
          <a:lstStyle/>
          <a:p>
            <a:pPr marL="0" indent="0">
              <a:buNone/>
            </a:pPr>
            <a:r>
              <a:rPr lang="en-US" sz="1750" b="1">
                <a:solidFill>
                  <a:srgbClr val="61D26B"/>
                </a:solidFill>
                <a:latin typeface="Arial" pitchFamily="34" charset="0"/>
                <a:ea typeface="Arial" pitchFamily="34" charset="-122"/>
                <a:cs typeface="Arial" pitchFamily="34" charset="-120"/>
              </a:rPr>
              <a:t>Quality Assurance</a:t>
            </a:r>
            <a:endParaRPr lang="en-US" sz="1750"/>
          </a:p>
        </p:txBody>
      </p:sp>
      <p:sp>
        <p:nvSpPr>
          <p:cNvPr id="23" name="Text 21"/>
          <p:cNvSpPr/>
          <p:nvPr/>
        </p:nvSpPr>
        <p:spPr>
          <a:xfrm>
            <a:off x="4809744" y="5248656"/>
            <a:ext cx="2798064" cy="960120"/>
          </a:xfrm>
          <a:prstGeom prst="rect">
            <a:avLst/>
          </a:prstGeom>
          <a:noFill/>
          <a:ln/>
        </p:spPr>
        <p:txBody>
          <a:bodyPr wrap="square" lIns="0" tIns="0" rIns="0" bIns="0" rtlCol="0" anchor="t"/>
          <a:lstStyle/>
          <a:p>
            <a:pPr marL="0" indent="0">
              <a:lnSpc>
                <a:spcPct val="118000"/>
              </a:lnSpc>
              <a:buNone/>
            </a:pPr>
            <a:r>
              <a:rPr lang="en-US" sz="1300">
                <a:solidFill>
                  <a:srgbClr val="F0F2ED"/>
                </a:solidFill>
                <a:latin typeface="Calibri" pitchFamily="34" charset="0"/>
                <a:ea typeface="Calibri" pitchFamily="34" charset="-122"/>
                <a:cs typeface="Calibri" pitchFamily="34" charset="-120"/>
              </a:rPr>
              <a:t>Testing and delivery enablement that keep solutions robust under real-world pressure.</a:t>
            </a:r>
            <a:endParaRPr lang="en-US" sz="1300"/>
          </a:p>
        </p:txBody>
      </p:sp>
      <p:sp>
        <p:nvSpPr>
          <p:cNvPr id="24" name="Shape 22"/>
          <p:cNvSpPr/>
          <p:nvPr/>
        </p:nvSpPr>
        <p:spPr>
          <a:xfrm>
            <a:off x="8211312" y="4133088"/>
            <a:ext cx="3456432" cy="2139696"/>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25" name="Shape 23"/>
          <p:cNvSpPr/>
          <p:nvPr/>
        </p:nvSpPr>
        <p:spPr>
          <a:xfrm>
            <a:off x="8211312" y="4133088"/>
            <a:ext cx="109728" cy="2139696"/>
          </a:xfrm>
          <a:prstGeom prst="rect">
            <a:avLst/>
          </a:prstGeom>
          <a:solidFill>
            <a:srgbClr val="37B34A"/>
          </a:solidFill>
          <a:ln/>
        </p:spPr>
        <p:txBody>
          <a:bodyPr/>
          <a:lstStyle/>
          <a:p>
            <a:endParaRPr lang="en-ZA"/>
          </a:p>
        </p:txBody>
      </p:sp>
      <p:sp>
        <p:nvSpPr>
          <p:cNvPr id="26" name="Text 24"/>
          <p:cNvSpPr/>
          <p:nvPr/>
        </p:nvSpPr>
        <p:spPr>
          <a:xfrm>
            <a:off x="8595360" y="4443984"/>
            <a:ext cx="2816352" cy="777240"/>
          </a:xfrm>
          <a:prstGeom prst="rect">
            <a:avLst/>
          </a:prstGeom>
          <a:noFill/>
          <a:ln/>
        </p:spPr>
        <p:txBody>
          <a:bodyPr wrap="square" lIns="0" tIns="0" rIns="0" bIns="0" rtlCol="0" anchor="t"/>
          <a:lstStyle/>
          <a:p>
            <a:pPr marL="0" indent="0">
              <a:buNone/>
            </a:pPr>
            <a:r>
              <a:rPr lang="en-US" sz="1750" b="1">
                <a:solidFill>
                  <a:srgbClr val="61D26B"/>
                </a:solidFill>
                <a:latin typeface="Arial" pitchFamily="34" charset="0"/>
                <a:ea typeface="Arial" pitchFamily="34" charset="-122"/>
                <a:cs typeface="Arial" pitchFamily="34" charset="-120"/>
              </a:rPr>
              <a:t>Delivery Enablement</a:t>
            </a:r>
            <a:endParaRPr lang="en-US" sz="1750"/>
          </a:p>
        </p:txBody>
      </p:sp>
      <p:sp>
        <p:nvSpPr>
          <p:cNvPr id="27" name="Text 25"/>
          <p:cNvSpPr/>
          <p:nvPr/>
        </p:nvSpPr>
        <p:spPr>
          <a:xfrm>
            <a:off x="8595360" y="5248656"/>
            <a:ext cx="2798064" cy="960120"/>
          </a:xfrm>
          <a:prstGeom prst="rect">
            <a:avLst/>
          </a:prstGeom>
          <a:noFill/>
          <a:ln/>
        </p:spPr>
        <p:txBody>
          <a:bodyPr wrap="square" lIns="0" tIns="0" rIns="0" bIns="0" rtlCol="0" anchor="t"/>
          <a:lstStyle/>
          <a:p>
            <a:pPr marL="0" indent="0">
              <a:lnSpc>
                <a:spcPct val="118000"/>
              </a:lnSpc>
              <a:buNone/>
            </a:pPr>
            <a:r>
              <a:rPr lang="en-US" sz="1300">
                <a:solidFill>
                  <a:srgbClr val="F0F2ED"/>
                </a:solidFill>
                <a:latin typeface="Calibri" pitchFamily="34" charset="0"/>
                <a:ea typeface="Calibri" pitchFamily="34" charset="-122"/>
                <a:cs typeface="Calibri" pitchFamily="34" charset="-120"/>
              </a:rPr>
              <a:t>Disciplined, transparent execution with shared accountability from concept to production.</a:t>
            </a:r>
            <a:endParaRPr lang="en-US" sz="1300"/>
          </a:p>
        </p:txBody>
      </p:sp>
      <p:sp>
        <p:nvSpPr>
          <p:cNvPr id="28" name="Text 26"/>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29" name="Text 27"/>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06</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3"/>
          <a:stretch>
            <a:fillRect/>
          </a:stretch>
        </p:blipFill>
        <p:spPr>
          <a:xfrm>
            <a:off x="640080" y="182880"/>
            <a:ext cx="809100" cy="2560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0A"/>
        </a:solidFill>
        <a:effectLst/>
      </p:bgPr>
    </p:bg>
    <p:spTree>
      <p:nvGrpSpPr>
        <p:cNvPr id="1" name=""/>
        <p:cNvGrpSpPr/>
        <p:nvPr/>
      </p:nvGrpSpPr>
      <p:grpSpPr>
        <a:xfrm>
          <a:off x="0" y="0"/>
          <a:ext cx="0" cy="0"/>
          <a:chOff x="0" y="0"/>
          <a:chExt cx="0" cy="0"/>
        </a:xfrm>
      </p:grpSpPr>
      <p:pic>
        <p:nvPicPr>
          <p:cNvPr id="2" name="Image 0" descr="/agent/turn2/workspace/assets/code_blue.png"/>
          <p:cNvPicPr>
            <a:picLocks noChangeAspect="1"/>
          </p:cNvPicPr>
          <p:nvPr/>
        </p:nvPicPr>
        <p:blipFill>
          <a:blip r:embed="rId3"/>
          <a:srcRect l="29429" r="29429"/>
          <a:stretch/>
        </p:blipFill>
        <p:spPr>
          <a:xfrm>
            <a:off x="7955280" y="0"/>
            <a:ext cx="4236415" cy="6858000"/>
          </a:xfrm>
          <a:prstGeom prst="rect">
            <a:avLst/>
          </a:prstGeom>
        </p:spPr>
      </p:pic>
      <p:sp>
        <p:nvSpPr>
          <p:cNvPr id="3" name="Shape 0"/>
          <p:cNvSpPr/>
          <p:nvPr/>
        </p:nvSpPr>
        <p:spPr>
          <a:xfrm>
            <a:off x="7955280" y="0"/>
            <a:ext cx="4236415" cy="6858000"/>
          </a:xfrm>
          <a:prstGeom prst="rect">
            <a:avLst/>
          </a:prstGeom>
          <a:solidFill>
            <a:srgbClr val="0A0C0A">
              <a:alpha val="50000"/>
            </a:srgbClr>
          </a:solidFill>
          <a:ln/>
        </p:spPr>
        <p:txBody>
          <a:bodyPr/>
          <a:lstStyle/>
          <a:p>
            <a:endParaRPr lang="en-ZA"/>
          </a:p>
        </p:txBody>
      </p:sp>
      <p:sp>
        <p:nvSpPr>
          <p:cNvPr id="4" name="Shape 1"/>
          <p:cNvSpPr/>
          <p:nvPr/>
        </p:nvSpPr>
        <p:spPr>
          <a:xfrm>
            <a:off x="7882128" y="0"/>
            <a:ext cx="73152" cy="6858000"/>
          </a:xfrm>
          <a:prstGeom prst="rect">
            <a:avLst/>
          </a:prstGeom>
          <a:solidFill>
            <a:srgbClr val="37B34A"/>
          </a:solidFill>
          <a:ln/>
        </p:spPr>
        <p:txBody>
          <a:bodyPr/>
          <a:lstStyle/>
          <a:p>
            <a:endParaRPr lang="en-ZA"/>
          </a:p>
        </p:txBody>
      </p:sp>
      <p:sp>
        <p:nvSpPr>
          <p:cNvPr id="5" name="Text 2"/>
          <p:cNvSpPr/>
          <p:nvPr/>
        </p:nvSpPr>
        <p:spPr>
          <a:xfrm>
            <a:off x="640080" y="792918"/>
            <a:ext cx="5486400" cy="292608"/>
          </a:xfrm>
          <a:prstGeom prst="rect">
            <a:avLst/>
          </a:prstGeom>
          <a:noFill/>
          <a:ln/>
        </p:spPr>
        <p:txBody>
          <a:bodyPr wrap="square" lIns="0" tIns="0" rIns="0" bIns="0" rtlCol="0" anchor="ctr"/>
          <a:lstStyle/>
          <a:p>
            <a:pPr marL="0" indent="0">
              <a:buNone/>
            </a:pPr>
            <a:r>
              <a:rPr lang="en-US" sz="1250" b="1" kern="0" spc="300">
                <a:solidFill>
                  <a:srgbClr val="37B34A"/>
                </a:solidFill>
                <a:latin typeface="Arial" pitchFamily="34" charset="0"/>
                <a:ea typeface="Arial" pitchFamily="34" charset="-122"/>
                <a:cs typeface="Arial" pitchFamily="34" charset="-120"/>
              </a:rPr>
              <a:t>04 — WHY PLUS3</a:t>
            </a:r>
            <a:endParaRPr lang="en-US" sz="1250"/>
          </a:p>
        </p:txBody>
      </p:sp>
      <p:sp>
        <p:nvSpPr>
          <p:cNvPr id="6" name="Text 3"/>
          <p:cNvSpPr/>
          <p:nvPr/>
        </p:nvSpPr>
        <p:spPr>
          <a:xfrm>
            <a:off x="640080" y="1162596"/>
            <a:ext cx="7040880" cy="731520"/>
          </a:xfrm>
          <a:prstGeom prst="rect">
            <a:avLst/>
          </a:prstGeom>
          <a:noFill/>
          <a:ln/>
        </p:spPr>
        <p:txBody>
          <a:bodyPr wrap="square" lIns="0" tIns="0" rIns="0" bIns="0" rtlCol="0" anchor="ctr"/>
          <a:lstStyle/>
          <a:p>
            <a:pPr marL="0" indent="0">
              <a:buNone/>
            </a:pPr>
            <a:r>
              <a:rPr lang="en-US" sz="3600" b="1">
                <a:solidFill>
                  <a:srgbClr val="F0F2ED"/>
                </a:solidFill>
                <a:latin typeface="Arial" pitchFamily="34" charset="0"/>
                <a:ea typeface="Arial" pitchFamily="34" charset="-122"/>
                <a:cs typeface="Arial" pitchFamily="34" charset="-120"/>
              </a:rPr>
              <a:t>Why clients choose Plus3</a:t>
            </a:r>
            <a:endParaRPr lang="en-US" sz="3600"/>
          </a:p>
        </p:txBody>
      </p:sp>
      <p:sp>
        <p:nvSpPr>
          <p:cNvPr id="7" name="Shape 4"/>
          <p:cNvSpPr/>
          <p:nvPr/>
        </p:nvSpPr>
        <p:spPr>
          <a:xfrm>
            <a:off x="640080" y="2200000"/>
            <a:ext cx="6903720" cy="118000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8" name="Shape 5"/>
          <p:cNvSpPr/>
          <p:nvPr/>
        </p:nvSpPr>
        <p:spPr>
          <a:xfrm>
            <a:off x="640080" y="2200000"/>
            <a:ext cx="109728" cy="1180000"/>
          </a:xfrm>
          <a:prstGeom prst="rect">
            <a:avLst/>
          </a:prstGeom>
          <a:solidFill>
            <a:srgbClr val="37B34A"/>
          </a:solidFill>
          <a:ln/>
        </p:spPr>
        <p:txBody>
          <a:bodyPr/>
          <a:lstStyle/>
          <a:p>
            <a:endParaRPr lang="en-ZA"/>
          </a:p>
        </p:txBody>
      </p:sp>
      <p:sp>
        <p:nvSpPr>
          <p:cNvPr id="9" name="Text 6"/>
          <p:cNvSpPr/>
          <p:nvPr/>
        </p:nvSpPr>
        <p:spPr>
          <a:xfrm>
            <a:off x="960120" y="2314684"/>
            <a:ext cx="6309360" cy="420000"/>
          </a:xfrm>
          <a:prstGeom prst="rect">
            <a:avLst/>
          </a:prstGeom>
          <a:noFill/>
          <a:ln/>
        </p:spPr>
        <p:txBody>
          <a:bodyPr wrap="square" lIns="0" tIns="0" rIns="0" bIns="0" rtlCol="0" anchor="ctr"/>
          <a:lstStyle/>
          <a:p>
            <a:pPr marL="0" indent="0">
              <a:buNone/>
            </a:pPr>
            <a:r>
              <a:rPr lang="en-US" sz="2100" b="1">
                <a:solidFill>
                  <a:srgbClr val="61D26B"/>
                </a:solidFill>
                <a:latin typeface="Arial" pitchFamily="34" charset="0"/>
                <a:ea typeface="Arial" pitchFamily="34" charset="-122"/>
                <a:cs typeface="Arial" pitchFamily="34" charset="-120"/>
              </a:rPr>
              <a:t>We think before we build</a:t>
            </a:r>
            <a:endParaRPr lang="en-US" sz="2100"/>
          </a:p>
        </p:txBody>
      </p:sp>
      <p:sp>
        <p:nvSpPr>
          <p:cNvPr id="10" name="Text 7"/>
          <p:cNvSpPr/>
          <p:nvPr/>
        </p:nvSpPr>
        <p:spPr>
          <a:xfrm>
            <a:off x="960120" y="2765570"/>
            <a:ext cx="6355080" cy="480000"/>
          </a:xfrm>
          <a:prstGeom prst="rect">
            <a:avLst/>
          </a:prstGeom>
          <a:noFill/>
          <a:ln/>
        </p:spPr>
        <p:txBody>
          <a:bodyPr wrap="square" lIns="0" tIns="0" rIns="0" bIns="0" rtlCol="0" anchor="t"/>
          <a:lstStyle/>
          <a:p>
            <a:pPr marL="0" indent="0">
              <a:lnSpc>
                <a:spcPct val="120000"/>
              </a:lnSpc>
              <a:buNone/>
            </a:pPr>
            <a:r>
              <a:rPr lang="en-US" sz="1400">
                <a:solidFill>
                  <a:srgbClr val="F0F2ED"/>
                </a:solidFill>
                <a:latin typeface="Calibri" pitchFamily="34" charset="0"/>
                <a:ea typeface="Calibri" pitchFamily="34" charset="-122"/>
                <a:cs typeface="Calibri" pitchFamily="34" charset="-120"/>
              </a:rPr>
              <a:t>Solutions grounded in genuine understanding, not assumptions — we solve the real business problem, not just ship outputs that look good on paper.</a:t>
            </a:r>
            <a:endParaRPr lang="en-US" sz="1400"/>
          </a:p>
        </p:txBody>
      </p:sp>
      <p:sp>
        <p:nvSpPr>
          <p:cNvPr id="11" name="Shape 8"/>
          <p:cNvSpPr/>
          <p:nvPr/>
        </p:nvSpPr>
        <p:spPr>
          <a:xfrm>
            <a:off x="640080" y="3620000"/>
            <a:ext cx="6903720" cy="118000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2" name="Shape 9"/>
          <p:cNvSpPr/>
          <p:nvPr/>
        </p:nvSpPr>
        <p:spPr>
          <a:xfrm>
            <a:off x="640080" y="3620000"/>
            <a:ext cx="109728" cy="1180000"/>
          </a:xfrm>
          <a:prstGeom prst="rect">
            <a:avLst/>
          </a:prstGeom>
          <a:solidFill>
            <a:srgbClr val="37B34A"/>
          </a:solidFill>
          <a:ln/>
        </p:spPr>
        <p:txBody>
          <a:bodyPr/>
          <a:lstStyle/>
          <a:p>
            <a:endParaRPr lang="en-ZA"/>
          </a:p>
        </p:txBody>
      </p:sp>
      <p:sp>
        <p:nvSpPr>
          <p:cNvPr id="13" name="Text 10"/>
          <p:cNvSpPr/>
          <p:nvPr/>
        </p:nvSpPr>
        <p:spPr>
          <a:xfrm>
            <a:off x="960120" y="3734684"/>
            <a:ext cx="6309360" cy="420000"/>
          </a:xfrm>
          <a:prstGeom prst="rect">
            <a:avLst/>
          </a:prstGeom>
          <a:noFill/>
          <a:ln/>
        </p:spPr>
        <p:txBody>
          <a:bodyPr wrap="square" lIns="0" tIns="0" rIns="0" bIns="0" rtlCol="0" anchor="ctr"/>
          <a:lstStyle/>
          <a:p>
            <a:pPr marL="0" indent="0">
              <a:buNone/>
            </a:pPr>
            <a:r>
              <a:rPr lang="en-US" sz="2100" b="1">
                <a:solidFill>
                  <a:srgbClr val="61D26B"/>
                </a:solidFill>
                <a:latin typeface="Arial" pitchFamily="34" charset="0"/>
                <a:ea typeface="Arial" pitchFamily="34" charset="-122"/>
                <a:cs typeface="Arial" pitchFamily="34" charset="-120"/>
              </a:rPr>
              <a:t>A delivery model built on ownership</a:t>
            </a:r>
            <a:endParaRPr lang="en-US" sz="2100"/>
          </a:p>
        </p:txBody>
      </p:sp>
      <p:sp>
        <p:nvSpPr>
          <p:cNvPr id="14" name="Text 11"/>
          <p:cNvSpPr/>
          <p:nvPr/>
        </p:nvSpPr>
        <p:spPr>
          <a:xfrm>
            <a:off x="960120" y="4152912"/>
            <a:ext cx="6355080" cy="480000"/>
          </a:xfrm>
          <a:prstGeom prst="rect">
            <a:avLst/>
          </a:prstGeom>
          <a:noFill/>
          <a:ln/>
        </p:spPr>
        <p:txBody>
          <a:bodyPr wrap="square" lIns="0" tIns="0" rIns="0" bIns="0" rtlCol="0" anchor="t"/>
          <a:lstStyle/>
          <a:p>
            <a:pPr marL="0" indent="0">
              <a:lnSpc>
                <a:spcPct val="120000"/>
              </a:lnSpc>
              <a:buNone/>
            </a:pPr>
            <a:r>
              <a:rPr lang="en-US" sz="1400">
                <a:solidFill>
                  <a:srgbClr val="F0F2ED"/>
                </a:solidFill>
                <a:latin typeface="Calibri" pitchFamily="34" charset="0"/>
                <a:ea typeface="Calibri" pitchFamily="34" charset="-122"/>
                <a:cs typeface="Calibri" pitchFamily="34" charset="-120"/>
              </a:rPr>
              <a:t>Our specialists are incentivised on delivery quality, growth and client satisfaction, creating genuine ownership and accountability on every project.</a:t>
            </a:r>
            <a:endParaRPr lang="en-US" sz="1400"/>
          </a:p>
        </p:txBody>
      </p:sp>
      <p:sp>
        <p:nvSpPr>
          <p:cNvPr id="21" name="Shape 14"/>
          <p:cNvSpPr/>
          <p:nvPr/>
        </p:nvSpPr>
        <p:spPr>
          <a:xfrm>
            <a:off x="640080" y="5040000"/>
            <a:ext cx="6903720" cy="118000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22" name="Shape 15"/>
          <p:cNvSpPr/>
          <p:nvPr/>
        </p:nvSpPr>
        <p:spPr>
          <a:xfrm>
            <a:off x="640080" y="5040000"/>
            <a:ext cx="109728" cy="1180000"/>
          </a:xfrm>
          <a:prstGeom prst="rect">
            <a:avLst/>
          </a:prstGeom>
          <a:solidFill>
            <a:srgbClr val="37B34A"/>
          </a:solidFill>
          <a:ln/>
        </p:spPr>
        <p:txBody>
          <a:bodyPr/>
          <a:lstStyle/>
          <a:p>
            <a:endParaRPr lang="en-ZA"/>
          </a:p>
        </p:txBody>
      </p:sp>
      <p:sp>
        <p:nvSpPr>
          <p:cNvPr id="23" name="Text 16"/>
          <p:cNvSpPr/>
          <p:nvPr/>
        </p:nvSpPr>
        <p:spPr>
          <a:xfrm>
            <a:off x="960120" y="5154684"/>
            <a:ext cx="6309360" cy="420000"/>
          </a:xfrm>
          <a:prstGeom prst="rect">
            <a:avLst/>
          </a:prstGeom>
          <a:noFill/>
          <a:ln/>
        </p:spPr>
        <p:txBody>
          <a:bodyPr wrap="square" lIns="0" tIns="0" rIns="0" bIns="0" rtlCol="0" anchor="ctr"/>
          <a:lstStyle/>
          <a:p>
            <a:pPr marL="0" indent="0">
              <a:buNone/>
            </a:pPr>
            <a:r>
              <a:rPr lang="en-US" sz="2100" b="1">
                <a:solidFill>
                  <a:srgbClr val="61D26B"/>
                </a:solidFill>
                <a:latin typeface="Arial" pitchFamily="34" charset="0"/>
                <a:ea typeface="Arial" pitchFamily="34" charset="-122"/>
                <a:cs typeface="Arial" pitchFamily="34" charset="-120"/>
              </a:rPr>
              <a:t>Built to scale with you</a:t>
            </a:r>
            <a:endParaRPr lang="en-US" sz="2100"/>
          </a:p>
        </p:txBody>
      </p:sp>
      <p:sp>
        <p:nvSpPr>
          <p:cNvPr id="24" name="Text 17"/>
          <p:cNvSpPr/>
          <p:nvPr/>
        </p:nvSpPr>
        <p:spPr>
          <a:xfrm>
            <a:off x="960120" y="5572912"/>
            <a:ext cx="6355080" cy="480000"/>
          </a:xfrm>
          <a:prstGeom prst="rect">
            <a:avLst/>
          </a:prstGeom>
          <a:noFill/>
          <a:ln/>
        </p:spPr>
        <p:txBody>
          <a:bodyPr wrap="square" lIns="0" tIns="0" rIns="0" bIns="0" rtlCol="0" anchor="t"/>
          <a:lstStyle/>
          <a:p>
            <a:pPr marL="0" indent="0">
              <a:lnSpc>
                <a:spcPct val="120000"/>
              </a:lnSpc>
              <a:buNone/>
            </a:pPr>
            <a:r>
              <a:rPr lang="en-US" sz="1400">
                <a:solidFill>
                  <a:srgbClr val="F0F2ED"/>
                </a:solidFill>
                <a:latin typeface="Calibri" pitchFamily="34" charset="0"/>
                <a:ea typeface="Calibri" pitchFamily="34" charset="-122"/>
                <a:cs typeface="Calibri" pitchFamily="34" charset="-120"/>
              </a:rPr>
              <a:t>Practical, modern solutions engineered to grow with your business — from first build to enterprise scale.</a:t>
            </a:r>
            <a:endParaRPr lang="en-US" sz="1400"/>
          </a:p>
        </p:txBody>
      </p:sp>
      <p:sp>
        <p:nvSpPr>
          <p:cNvPr id="15" name="Text 12"/>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16" name="Text 13"/>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07</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4"/>
          <a:stretch>
            <a:fillRect/>
          </a:stretch>
        </p:blipFill>
        <p:spPr>
          <a:xfrm>
            <a:off x="640080" y="320260"/>
            <a:ext cx="809100" cy="2560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C0A"/>
        </a:solidFill>
        <a:effectLst/>
      </p:bgPr>
    </p:bg>
    <p:spTree>
      <p:nvGrpSpPr>
        <p:cNvPr id="1" name=""/>
        <p:cNvGrpSpPr/>
        <p:nvPr/>
      </p:nvGrpSpPr>
      <p:grpSpPr>
        <a:xfrm>
          <a:off x="0" y="0"/>
          <a:ext cx="0" cy="0"/>
          <a:chOff x="0" y="0"/>
          <a:chExt cx="0" cy="0"/>
        </a:xfrm>
      </p:grpSpPr>
      <p:sp>
        <p:nvSpPr>
          <p:cNvPr id="2" name="Text 0"/>
          <p:cNvSpPr/>
          <p:nvPr/>
        </p:nvSpPr>
        <p:spPr>
          <a:xfrm>
            <a:off x="713232" y="566928"/>
            <a:ext cx="5486400" cy="292608"/>
          </a:xfrm>
          <a:prstGeom prst="rect">
            <a:avLst/>
          </a:prstGeom>
          <a:noFill/>
          <a:ln/>
        </p:spPr>
        <p:txBody>
          <a:bodyPr wrap="square" lIns="0" tIns="0" rIns="0" bIns="0" rtlCol="0" anchor="ctr"/>
          <a:lstStyle/>
          <a:p>
            <a:pPr marL="0" indent="0">
              <a:buNone/>
            </a:pPr>
            <a:r>
              <a:rPr lang="en-US" sz="1250" b="1" kern="0" spc="300">
                <a:solidFill>
                  <a:srgbClr val="37B34A"/>
                </a:solidFill>
                <a:latin typeface="Arial" pitchFamily="34" charset="0"/>
                <a:ea typeface="Arial" pitchFamily="34" charset="-122"/>
                <a:cs typeface="Arial" pitchFamily="34" charset="-120"/>
              </a:rPr>
              <a:t>05 — ENGAGEMENT MODELS</a:t>
            </a:r>
            <a:endParaRPr lang="en-US" sz="1250"/>
          </a:p>
        </p:txBody>
      </p:sp>
      <p:sp>
        <p:nvSpPr>
          <p:cNvPr id="3" name="Text 1"/>
          <p:cNvSpPr/>
          <p:nvPr/>
        </p:nvSpPr>
        <p:spPr>
          <a:xfrm>
            <a:off x="640080" y="877824"/>
            <a:ext cx="10789920" cy="731520"/>
          </a:xfrm>
          <a:prstGeom prst="rect">
            <a:avLst/>
          </a:prstGeom>
          <a:noFill/>
          <a:ln/>
        </p:spPr>
        <p:txBody>
          <a:bodyPr wrap="square" lIns="0" tIns="0" rIns="0" bIns="0" rtlCol="0" anchor="ctr"/>
          <a:lstStyle/>
          <a:p>
            <a:pPr marL="0" indent="0">
              <a:buNone/>
            </a:pPr>
            <a:r>
              <a:rPr lang="en-US" sz="3400" b="1">
                <a:solidFill>
                  <a:srgbClr val="F0F2ED"/>
                </a:solidFill>
                <a:latin typeface="Arial" pitchFamily="34" charset="0"/>
                <a:ea typeface="Arial" pitchFamily="34" charset="-122"/>
                <a:cs typeface="Arial" pitchFamily="34" charset="-120"/>
              </a:rPr>
              <a:t>Flexible ways to work together</a:t>
            </a:r>
            <a:endParaRPr lang="en-US" sz="3400"/>
          </a:p>
        </p:txBody>
      </p:sp>
      <p:sp>
        <p:nvSpPr>
          <p:cNvPr id="4" name="Shape 2"/>
          <p:cNvSpPr/>
          <p:nvPr/>
        </p:nvSpPr>
        <p:spPr>
          <a:xfrm>
            <a:off x="513620" y="1920240"/>
            <a:ext cx="2615184" cy="384048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5" name="Shape 3"/>
          <p:cNvSpPr/>
          <p:nvPr/>
        </p:nvSpPr>
        <p:spPr>
          <a:xfrm>
            <a:off x="513620" y="1920240"/>
            <a:ext cx="2615184" cy="109728"/>
          </a:xfrm>
          <a:prstGeom prst="rect">
            <a:avLst/>
          </a:prstGeom>
          <a:solidFill>
            <a:srgbClr val="37B34A"/>
          </a:solidFill>
          <a:ln/>
        </p:spPr>
        <p:txBody>
          <a:bodyPr/>
          <a:lstStyle/>
          <a:p>
            <a:endParaRPr lang="en-ZA"/>
          </a:p>
        </p:txBody>
      </p:sp>
      <p:sp>
        <p:nvSpPr>
          <p:cNvPr id="6" name="Text 4"/>
          <p:cNvSpPr/>
          <p:nvPr/>
        </p:nvSpPr>
        <p:spPr>
          <a:xfrm>
            <a:off x="879380" y="2286000"/>
            <a:ext cx="1828800" cy="640080"/>
          </a:xfrm>
          <a:prstGeom prst="rect">
            <a:avLst/>
          </a:prstGeom>
          <a:noFill/>
          <a:ln/>
        </p:spPr>
        <p:txBody>
          <a:bodyPr wrap="square" lIns="0" tIns="0" rIns="0" bIns="0" rtlCol="0" anchor="ctr"/>
          <a:lstStyle/>
          <a:p>
            <a:pPr marL="0" indent="0">
              <a:buNone/>
            </a:pPr>
            <a:r>
              <a:rPr lang="en-US" sz="2800" b="1">
                <a:solidFill>
                  <a:srgbClr val="1E5B24"/>
                </a:solidFill>
                <a:latin typeface="Arial" pitchFamily="34" charset="0"/>
                <a:ea typeface="Arial" pitchFamily="34" charset="-122"/>
                <a:cs typeface="Arial" pitchFamily="34" charset="-120"/>
              </a:rPr>
              <a:t>01</a:t>
            </a:r>
            <a:endParaRPr lang="en-US" sz="2800"/>
          </a:p>
        </p:txBody>
      </p:sp>
      <p:sp>
        <p:nvSpPr>
          <p:cNvPr id="7" name="Text 5"/>
          <p:cNvSpPr/>
          <p:nvPr/>
        </p:nvSpPr>
        <p:spPr>
          <a:xfrm>
            <a:off x="879380" y="2999232"/>
            <a:ext cx="1929384" cy="868680"/>
          </a:xfrm>
          <a:prstGeom prst="rect">
            <a:avLst/>
          </a:prstGeom>
          <a:noFill/>
          <a:ln/>
        </p:spPr>
        <p:txBody>
          <a:bodyPr wrap="square" lIns="0" tIns="0" rIns="0" bIns="0" rtlCol="0" anchor="t"/>
          <a:lstStyle/>
          <a:p>
            <a:pPr marL="0" indent="0">
              <a:buNone/>
            </a:pPr>
            <a:r>
              <a:rPr lang="en-US" sz="1800" b="1">
                <a:solidFill>
                  <a:srgbClr val="61D26B"/>
                </a:solidFill>
                <a:latin typeface="Arial" pitchFamily="34" charset="0"/>
                <a:ea typeface="Arial" pitchFamily="34" charset="-122"/>
                <a:cs typeface="Arial" pitchFamily="34" charset="-120"/>
              </a:rPr>
              <a:t>Time &amp; Materials</a:t>
            </a:r>
            <a:endParaRPr lang="en-US" sz="1800"/>
          </a:p>
        </p:txBody>
      </p:sp>
      <p:sp>
        <p:nvSpPr>
          <p:cNvPr id="8" name="Text 6"/>
          <p:cNvSpPr/>
          <p:nvPr/>
        </p:nvSpPr>
        <p:spPr>
          <a:xfrm>
            <a:off x="879380" y="3840480"/>
            <a:ext cx="1929384" cy="1737360"/>
          </a:xfrm>
          <a:prstGeom prst="rect">
            <a:avLst/>
          </a:prstGeom>
          <a:noFill/>
          <a:ln/>
        </p:spPr>
        <p:txBody>
          <a:bodyPr wrap="square" lIns="0" tIns="0" rIns="0" bIns="0" rtlCol="0" anchor="t"/>
          <a:lstStyle/>
          <a:p>
            <a:pPr marL="0" indent="0">
              <a:lnSpc>
                <a:spcPct val="120000"/>
              </a:lnSpc>
              <a:buNone/>
            </a:pPr>
            <a:r>
              <a:rPr lang="en-US" sz="1300">
                <a:solidFill>
                  <a:srgbClr val="F0F2ED"/>
                </a:solidFill>
                <a:latin typeface="Calibri" pitchFamily="34" charset="0"/>
                <a:ea typeface="Calibri" pitchFamily="34" charset="-122"/>
                <a:cs typeface="Calibri" pitchFamily="34" charset="-120"/>
              </a:rPr>
              <a:t>Billing on actual hours and materials used. Iterative delivery, maximum innovation, with a stringent timesheet process.</a:t>
            </a:r>
            <a:endParaRPr lang="en-US" sz="1300"/>
          </a:p>
        </p:txBody>
      </p:sp>
      <p:sp>
        <p:nvSpPr>
          <p:cNvPr id="9" name="Shape 7"/>
          <p:cNvSpPr/>
          <p:nvPr/>
        </p:nvSpPr>
        <p:spPr>
          <a:xfrm>
            <a:off x="3403124" y="1920240"/>
            <a:ext cx="2615184" cy="384048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0" name="Shape 8"/>
          <p:cNvSpPr/>
          <p:nvPr/>
        </p:nvSpPr>
        <p:spPr>
          <a:xfrm>
            <a:off x="3403124" y="1920240"/>
            <a:ext cx="2615184" cy="109728"/>
          </a:xfrm>
          <a:prstGeom prst="rect">
            <a:avLst/>
          </a:prstGeom>
          <a:solidFill>
            <a:srgbClr val="37B34A"/>
          </a:solidFill>
          <a:ln/>
        </p:spPr>
        <p:txBody>
          <a:bodyPr/>
          <a:lstStyle/>
          <a:p>
            <a:endParaRPr lang="en-ZA"/>
          </a:p>
        </p:txBody>
      </p:sp>
      <p:sp>
        <p:nvSpPr>
          <p:cNvPr id="11" name="Text 9"/>
          <p:cNvSpPr/>
          <p:nvPr/>
        </p:nvSpPr>
        <p:spPr>
          <a:xfrm>
            <a:off x="3768884" y="2286000"/>
            <a:ext cx="1828800" cy="640080"/>
          </a:xfrm>
          <a:prstGeom prst="rect">
            <a:avLst/>
          </a:prstGeom>
          <a:noFill/>
          <a:ln/>
        </p:spPr>
        <p:txBody>
          <a:bodyPr wrap="square" lIns="0" tIns="0" rIns="0" bIns="0" rtlCol="0" anchor="ctr"/>
          <a:lstStyle/>
          <a:p>
            <a:pPr marL="0" indent="0">
              <a:buNone/>
            </a:pPr>
            <a:r>
              <a:rPr lang="en-US" sz="2800" b="1">
                <a:solidFill>
                  <a:srgbClr val="1E5B24"/>
                </a:solidFill>
                <a:latin typeface="Arial" pitchFamily="34" charset="0"/>
                <a:ea typeface="Arial" pitchFamily="34" charset="-122"/>
                <a:cs typeface="Arial" pitchFamily="34" charset="-120"/>
              </a:rPr>
              <a:t>02</a:t>
            </a:r>
            <a:endParaRPr lang="en-US" sz="2800"/>
          </a:p>
        </p:txBody>
      </p:sp>
      <p:sp>
        <p:nvSpPr>
          <p:cNvPr id="12" name="Text 10"/>
          <p:cNvSpPr/>
          <p:nvPr/>
        </p:nvSpPr>
        <p:spPr>
          <a:xfrm>
            <a:off x="3768884" y="2999232"/>
            <a:ext cx="1929384" cy="868680"/>
          </a:xfrm>
          <a:prstGeom prst="rect">
            <a:avLst/>
          </a:prstGeom>
          <a:noFill/>
          <a:ln/>
        </p:spPr>
        <p:txBody>
          <a:bodyPr wrap="square" lIns="0" tIns="0" rIns="0" bIns="0" rtlCol="0" anchor="t"/>
          <a:lstStyle/>
          <a:p>
            <a:pPr marL="0" indent="0">
              <a:buNone/>
            </a:pPr>
            <a:r>
              <a:rPr lang="en-US" sz="1800" b="1">
                <a:solidFill>
                  <a:srgbClr val="61D26B"/>
                </a:solidFill>
                <a:latin typeface="Arial" pitchFamily="34" charset="0"/>
                <a:ea typeface="Arial" pitchFamily="34" charset="-122"/>
                <a:cs typeface="Arial" pitchFamily="34" charset="-120"/>
              </a:rPr>
              <a:t>Monthly Retainer</a:t>
            </a:r>
            <a:endParaRPr lang="en-US" sz="1800"/>
          </a:p>
        </p:txBody>
      </p:sp>
      <p:sp>
        <p:nvSpPr>
          <p:cNvPr id="13" name="Text 11"/>
          <p:cNvSpPr/>
          <p:nvPr/>
        </p:nvSpPr>
        <p:spPr>
          <a:xfrm>
            <a:off x="3768884" y="3840480"/>
            <a:ext cx="1929384" cy="1737360"/>
          </a:xfrm>
          <a:prstGeom prst="rect">
            <a:avLst/>
          </a:prstGeom>
          <a:noFill/>
          <a:ln/>
        </p:spPr>
        <p:txBody>
          <a:bodyPr wrap="square" lIns="0" tIns="0" rIns="0" bIns="0" rtlCol="0" anchor="t"/>
          <a:lstStyle/>
          <a:p>
            <a:pPr marL="0" indent="0">
              <a:lnSpc>
                <a:spcPct val="120000"/>
              </a:lnSpc>
              <a:buNone/>
            </a:pPr>
            <a:r>
              <a:rPr lang="en-US" sz="1300">
                <a:solidFill>
                  <a:srgbClr val="F0F2ED"/>
                </a:solidFill>
                <a:latin typeface="Calibri" pitchFamily="34" charset="0"/>
                <a:ea typeface="Calibri" pitchFamily="34" charset="-122"/>
                <a:cs typeface="Calibri" pitchFamily="34" charset="-120"/>
              </a:rPr>
              <a:t>A set number of hours committed for an agreed monthly cost. Ideal for 12+ month engagements.</a:t>
            </a:r>
            <a:endParaRPr lang="en-US" sz="1300"/>
          </a:p>
        </p:txBody>
      </p:sp>
      <p:sp>
        <p:nvSpPr>
          <p:cNvPr id="14" name="Shape 12"/>
          <p:cNvSpPr/>
          <p:nvPr/>
        </p:nvSpPr>
        <p:spPr>
          <a:xfrm>
            <a:off x="6292628" y="1920240"/>
            <a:ext cx="2615184" cy="384048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15" name="Shape 13"/>
          <p:cNvSpPr/>
          <p:nvPr/>
        </p:nvSpPr>
        <p:spPr>
          <a:xfrm>
            <a:off x="6292628" y="1920240"/>
            <a:ext cx="2615184" cy="109728"/>
          </a:xfrm>
          <a:prstGeom prst="rect">
            <a:avLst/>
          </a:prstGeom>
          <a:solidFill>
            <a:srgbClr val="37B34A"/>
          </a:solidFill>
          <a:ln/>
        </p:spPr>
        <p:txBody>
          <a:bodyPr/>
          <a:lstStyle/>
          <a:p>
            <a:endParaRPr lang="en-ZA"/>
          </a:p>
        </p:txBody>
      </p:sp>
      <p:sp>
        <p:nvSpPr>
          <p:cNvPr id="16" name="Text 14"/>
          <p:cNvSpPr/>
          <p:nvPr/>
        </p:nvSpPr>
        <p:spPr>
          <a:xfrm>
            <a:off x="6658388" y="2286000"/>
            <a:ext cx="1828800" cy="640080"/>
          </a:xfrm>
          <a:prstGeom prst="rect">
            <a:avLst/>
          </a:prstGeom>
          <a:noFill/>
          <a:ln/>
        </p:spPr>
        <p:txBody>
          <a:bodyPr wrap="square" lIns="0" tIns="0" rIns="0" bIns="0" rtlCol="0" anchor="ctr"/>
          <a:lstStyle/>
          <a:p>
            <a:pPr marL="0" indent="0">
              <a:buNone/>
            </a:pPr>
            <a:r>
              <a:rPr lang="en-US" sz="2800" b="1">
                <a:solidFill>
                  <a:srgbClr val="1E5B24"/>
                </a:solidFill>
                <a:latin typeface="Arial" pitchFamily="34" charset="0"/>
                <a:ea typeface="Arial" pitchFamily="34" charset="-122"/>
                <a:cs typeface="Arial" pitchFamily="34" charset="-120"/>
              </a:rPr>
              <a:t>03</a:t>
            </a:r>
            <a:endParaRPr lang="en-US" sz="2800"/>
          </a:p>
        </p:txBody>
      </p:sp>
      <p:sp>
        <p:nvSpPr>
          <p:cNvPr id="17" name="Text 15"/>
          <p:cNvSpPr/>
          <p:nvPr/>
        </p:nvSpPr>
        <p:spPr>
          <a:xfrm>
            <a:off x="6658388" y="2999232"/>
            <a:ext cx="1929384" cy="868680"/>
          </a:xfrm>
          <a:prstGeom prst="rect">
            <a:avLst/>
          </a:prstGeom>
          <a:noFill/>
          <a:ln/>
        </p:spPr>
        <p:txBody>
          <a:bodyPr wrap="square" lIns="0" tIns="0" rIns="0" bIns="0" rtlCol="0" anchor="t"/>
          <a:lstStyle/>
          <a:p>
            <a:pPr marL="0" indent="0">
              <a:buNone/>
            </a:pPr>
            <a:r>
              <a:rPr lang="en-US" sz="1800" b="1">
                <a:solidFill>
                  <a:srgbClr val="61D26B"/>
                </a:solidFill>
                <a:latin typeface="Arial" pitchFamily="34" charset="0"/>
                <a:ea typeface="Arial" pitchFamily="34" charset="-122"/>
                <a:cs typeface="Arial" pitchFamily="34" charset="-120"/>
              </a:rPr>
              <a:t>Sprint Milestones</a:t>
            </a:r>
            <a:endParaRPr lang="en-US" sz="1800"/>
          </a:p>
        </p:txBody>
      </p:sp>
      <p:sp>
        <p:nvSpPr>
          <p:cNvPr id="18" name="Text 16"/>
          <p:cNvSpPr/>
          <p:nvPr/>
        </p:nvSpPr>
        <p:spPr>
          <a:xfrm>
            <a:off x="6658388" y="3840480"/>
            <a:ext cx="1929384" cy="1737360"/>
          </a:xfrm>
          <a:prstGeom prst="rect">
            <a:avLst/>
          </a:prstGeom>
          <a:noFill/>
          <a:ln/>
        </p:spPr>
        <p:txBody>
          <a:bodyPr wrap="square" lIns="0" tIns="0" rIns="0" bIns="0" rtlCol="0" anchor="t"/>
          <a:lstStyle/>
          <a:p>
            <a:pPr marL="0" indent="0">
              <a:lnSpc>
                <a:spcPct val="120000"/>
              </a:lnSpc>
              <a:buNone/>
            </a:pPr>
            <a:r>
              <a:rPr lang="en-US" sz="1300">
                <a:solidFill>
                  <a:srgbClr val="F0F2ED"/>
                </a:solidFill>
                <a:latin typeface="Calibri" pitchFamily="34" charset="0"/>
                <a:ea typeface="Calibri" pitchFamily="34" charset="-122"/>
                <a:cs typeface="Calibri" pitchFamily="34" charset="-120"/>
              </a:rPr>
              <a:t>A fixed cost per completed sprint in an agile project. Requires well-established agile rituals.</a:t>
            </a:r>
            <a:endParaRPr lang="en-US" sz="1300"/>
          </a:p>
        </p:txBody>
      </p:sp>
      <p:sp>
        <p:nvSpPr>
          <p:cNvPr id="19" name="Shape 17"/>
          <p:cNvSpPr/>
          <p:nvPr/>
        </p:nvSpPr>
        <p:spPr>
          <a:xfrm>
            <a:off x="9182132" y="1920240"/>
            <a:ext cx="2615184" cy="3840480"/>
          </a:xfrm>
          <a:prstGeom prst="rect">
            <a:avLst/>
          </a:prstGeom>
          <a:solidFill>
            <a:srgbClr val="141915"/>
          </a:solidFill>
          <a:ln w="12700">
            <a:solidFill>
              <a:srgbClr val="2A332B"/>
            </a:solidFill>
            <a:prstDash val="solid"/>
          </a:ln>
          <a:effectLst>
            <a:outerShdw blurRad="114300" dist="38100" dir="5400000" algn="bl" rotWithShape="0">
              <a:srgbClr val="000000">
                <a:alpha val="45000"/>
              </a:srgbClr>
            </a:outerShdw>
          </a:effectLst>
        </p:spPr>
        <p:txBody>
          <a:bodyPr/>
          <a:lstStyle/>
          <a:p>
            <a:endParaRPr lang="en-ZA"/>
          </a:p>
        </p:txBody>
      </p:sp>
      <p:sp>
        <p:nvSpPr>
          <p:cNvPr id="20" name="Shape 18"/>
          <p:cNvSpPr/>
          <p:nvPr/>
        </p:nvSpPr>
        <p:spPr>
          <a:xfrm>
            <a:off x="9182132" y="1920240"/>
            <a:ext cx="2615184" cy="109728"/>
          </a:xfrm>
          <a:prstGeom prst="rect">
            <a:avLst/>
          </a:prstGeom>
          <a:solidFill>
            <a:srgbClr val="37B34A"/>
          </a:solidFill>
          <a:ln/>
        </p:spPr>
        <p:txBody>
          <a:bodyPr/>
          <a:lstStyle/>
          <a:p>
            <a:endParaRPr lang="en-ZA"/>
          </a:p>
        </p:txBody>
      </p:sp>
      <p:sp>
        <p:nvSpPr>
          <p:cNvPr id="21" name="Text 19"/>
          <p:cNvSpPr/>
          <p:nvPr/>
        </p:nvSpPr>
        <p:spPr>
          <a:xfrm>
            <a:off x="9547892" y="2286000"/>
            <a:ext cx="1828800" cy="640080"/>
          </a:xfrm>
          <a:prstGeom prst="rect">
            <a:avLst/>
          </a:prstGeom>
          <a:noFill/>
          <a:ln/>
        </p:spPr>
        <p:txBody>
          <a:bodyPr wrap="square" lIns="0" tIns="0" rIns="0" bIns="0" rtlCol="0" anchor="ctr"/>
          <a:lstStyle/>
          <a:p>
            <a:pPr marL="0" indent="0">
              <a:buNone/>
            </a:pPr>
            <a:r>
              <a:rPr lang="en-US" sz="2800" b="1">
                <a:solidFill>
                  <a:srgbClr val="1E5B24"/>
                </a:solidFill>
                <a:latin typeface="Arial" pitchFamily="34" charset="0"/>
                <a:ea typeface="Arial" pitchFamily="34" charset="-122"/>
                <a:cs typeface="Arial" pitchFamily="34" charset="-120"/>
              </a:rPr>
              <a:t>04</a:t>
            </a:r>
            <a:endParaRPr lang="en-US" sz="2800"/>
          </a:p>
        </p:txBody>
      </p:sp>
      <p:sp>
        <p:nvSpPr>
          <p:cNvPr id="22" name="Text 20"/>
          <p:cNvSpPr/>
          <p:nvPr/>
        </p:nvSpPr>
        <p:spPr>
          <a:xfrm>
            <a:off x="9547892" y="2999232"/>
            <a:ext cx="1929384" cy="868680"/>
          </a:xfrm>
          <a:prstGeom prst="rect">
            <a:avLst/>
          </a:prstGeom>
          <a:noFill/>
          <a:ln/>
        </p:spPr>
        <p:txBody>
          <a:bodyPr wrap="square" lIns="0" tIns="0" rIns="0" bIns="0" rtlCol="0" anchor="t"/>
          <a:lstStyle/>
          <a:p>
            <a:pPr marL="0" indent="0">
              <a:buNone/>
            </a:pPr>
            <a:r>
              <a:rPr lang="en-US" sz="1800" b="1">
                <a:solidFill>
                  <a:srgbClr val="61D26B"/>
                </a:solidFill>
                <a:latin typeface="Arial" pitchFamily="34" charset="0"/>
                <a:ea typeface="Arial" pitchFamily="34" charset="-122"/>
                <a:cs typeface="Arial" pitchFamily="34" charset="-120"/>
              </a:rPr>
              <a:t>Outcome-Based</a:t>
            </a:r>
            <a:endParaRPr lang="en-US" sz="1800"/>
          </a:p>
        </p:txBody>
      </p:sp>
      <p:sp>
        <p:nvSpPr>
          <p:cNvPr id="23" name="Text 21"/>
          <p:cNvSpPr/>
          <p:nvPr/>
        </p:nvSpPr>
        <p:spPr>
          <a:xfrm>
            <a:off x="9547892" y="3840480"/>
            <a:ext cx="1929384" cy="1737360"/>
          </a:xfrm>
          <a:prstGeom prst="rect">
            <a:avLst/>
          </a:prstGeom>
          <a:noFill/>
          <a:ln/>
        </p:spPr>
        <p:txBody>
          <a:bodyPr wrap="square" lIns="0" tIns="0" rIns="0" bIns="0" rtlCol="0" anchor="t"/>
          <a:lstStyle/>
          <a:p>
            <a:pPr marL="0" indent="0">
              <a:lnSpc>
                <a:spcPct val="120000"/>
              </a:lnSpc>
              <a:buNone/>
            </a:pPr>
            <a:r>
              <a:rPr lang="en-US" sz="1300">
                <a:solidFill>
                  <a:srgbClr val="F0F2ED"/>
                </a:solidFill>
                <a:latin typeface="Calibri" pitchFamily="34" charset="0"/>
                <a:ea typeface="Calibri" pitchFamily="34" charset="-122"/>
                <a:cs typeface="Calibri" pitchFamily="34" charset="-120"/>
              </a:rPr>
              <a:t>Billing linked to specific results or deliverables. Requires fully defined scope and dependencies.</a:t>
            </a:r>
            <a:endParaRPr lang="en-US" sz="1300"/>
          </a:p>
        </p:txBody>
      </p:sp>
      <p:sp>
        <p:nvSpPr>
          <p:cNvPr id="24" name="Text 22"/>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25" name="Text 23"/>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08</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3"/>
          <a:stretch>
            <a:fillRect/>
          </a:stretch>
        </p:blipFill>
        <p:spPr>
          <a:xfrm>
            <a:off x="640080" y="182880"/>
            <a:ext cx="809100" cy="2560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0A"/>
        </a:solidFill>
        <a:effectLst/>
      </p:bgPr>
    </p:bg>
    <p:spTree>
      <p:nvGrpSpPr>
        <p:cNvPr id="1" name=""/>
        <p:cNvGrpSpPr/>
        <p:nvPr/>
      </p:nvGrpSpPr>
      <p:grpSpPr>
        <a:xfrm>
          <a:off x="0" y="0"/>
          <a:ext cx="0" cy="0"/>
          <a:chOff x="0" y="0"/>
          <a:chExt cx="0" cy="0"/>
        </a:xfrm>
      </p:grpSpPr>
      <p:pic>
        <p:nvPicPr>
          <p:cNvPr id="2" name="Image 0" descr="/agent/turn2/workspace/assets/theme.png"/>
          <p:cNvPicPr>
            <a:picLocks noChangeAspect="1"/>
          </p:cNvPicPr>
          <p:nvPr/>
        </p:nvPicPr>
        <p:blipFill>
          <a:blip r:embed="rId3"/>
          <a:srcRect l="21113" r="21113"/>
          <a:stretch/>
        </p:blipFill>
        <p:spPr>
          <a:xfrm>
            <a:off x="8229600" y="0"/>
            <a:ext cx="3962095" cy="6858000"/>
          </a:xfrm>
          <a:prstGeom prst="rect">
            <a:avLst/>
          </a:prstGeom>
        </p:spPr>
      </p:pic>
      <p:sp>
        <p:nvSpPr>
          <p:cNvPr id="3" name="Shape 0"/>
          <p:cNvSpPr/>
          <p:nvPr/>
        </p:nvSpPr>
        <p:spPr>
          <a:xfrm>
            <a:off x="8138160" y="0"/>
            <a:ext cx="91440" cy="6858000"/>
          </a:xfrm>
          <a:prstGeom prst="rect">
            <a:avLst/>
          </a:prstGeom>
          <a:solidFill>
            <a:srgbClr val="37B34A"/>
          </a:solidFill>
          <a:ln/>
        </p:spPr>
        <p:txBody>
          <a:bodyPr/>
          <a:lstStyle/>
          <a:p>
            <a:endParaRPr lang="en-ZA"/>
          </a:p>
        </p:txBody>
      </p:sp>
      <p:sp>
        <p:nvSpPr>
          <p:cNvPr id="5" name="Text 2"/>
          <p:cNvSpPr/>
          <p:nvPr/>
        </p:nvSpPr>
        <p:spPr>
          <a:xfrm>
            <a:off x="598171" y="1802244"/>
            <a:ext cx="7315200" cy="1097280"/>
          </a:xfrm>
          <a:prstGeom prst="rect">
            <a:avLst/>
          </a:prstGeom>
          <a:noFill/>
          <a:ln/>
        </p:spPr>
        <p:txBody>
          <a:bodyPr wrap="square" lIns="0" tIns="0" rIns="0" bIns="0" rtlCol="0" anchor="ctr"/>
          <a:lstStyle/>
          <a:p>
            <a:pPr marL="0" indent="0">
              <a:buNone/>
            </a:pPr>
            <a:r>
              <a:rPr lang="en-US" sz="6000" b="1">
                <a:solidFill>
                  <a:srgbClr val="F0F2ED"/>
                </a:solidFill>
                <a:latin typeface="Arial" pitchFamily="34" charset="0"/>
                <a:ea typeface="Arial" pitchFamily="34" charset="-122"/>
                <a:cs typeface="Arial" pitchFamily="34" charset="-120"/>
              </a:rPr>
              <a:t>Let’s talk.</a:t>
            </a:r>
            <a:endParaRPr lang="en-US" sz="6000"/>
          </a:p>
        </p:txBody>
      </p:sp>
      <p:sp>
        <p:nvSpPr>
          <p:cNvPr id="6" name="Text 3"/>
          <p:cNvSpPr/>
          <p:nvPr/>
        </p:nvSpPr>
        <p:spPr>
          <a:xfrm>
            <a:off x="598171" y="2823502"/>
            <a:ext cx="7223760" cy="548640"/>
          </a:xfrm>
          <a:prstGeom prst="rect">
            <a:avLst/>
          </a:prstGeom>
          <a:noFill/>
          <a:ln/>
        </p:spPr>
        <p:txBody>
          <a:bodyPr wrap="square" lIns="0" tIns="0" rIns="0" bIns="0" rtlCol="0" anchor="ctr"/>
          <a:lstStyle/>
          <a:p>
            <a:pPr marL="0" indent="0">
              <a:buNone/>
            </a:pPr>
            <a:r>
              <a:rPr lang="en-US" sz="2400" b="1" dirty="0">
                <a:solidFill>
                  <a:srgbClr val="61D26B"/>
                </a:solidFill>
                <a:latin typeface="Arial" pitchFamily="34" charset="0"/>
                <a:ea typeface="Arial" pitchFamily="34" charset="-122"/>
                <a:cs typeface="Arial" pitchFamily="34" charset="-120"/>
              </a:rPr>
              <a:t>Everything starts with a conversation.</a:t>
            </a:r>
            <a:endParaRPr lang="en-US" sz="2400" dirty="0"/>
          </a:p>
        </p:txBody>
      </p:sp>
      <p:sp>
        <p:nvSpPr>
          <p:cNvPr id="7" name="Text 4"/>
          <p:cNvSpPr/>
          <p:nvPr/>
        </p:nvSpPr>
        <p:spPr>
          <a:xfrm>
            <a:off x="601981" y="3342570"/>
            <a:ext cx="7040880" cy="548640"/>
          </a:xfrm>
          <a:prstGeom prst="rect">
            <a:avLst/>
          </a:prstGeom>
          <a:noFill/>
          <a:ln/>
        </p:spPr>
        <p:txBody>
          <a:bodyPr wrap="square" lIns="0" tIns="0" rIns="0" bIns="0" rtlCol="0" anchor="ctr"/>
          <a:lstStyle/>
          <a:p>
            <a:pPr marL="0" indent="0">
              <a:buNone/>
            </a:pPr>
            <a:r>
              <a:rPr lang="en-US" sz="1650">
                <a:solidFill>
                  <a:srgbClr val="98A399"/>
                </a:solidFill>
                <a:latin typeface="Calibri" pitchFamily="34" charset="0"/>
                <a:ea typeface="Calibri" pitchFamily="34" charset="-122"/>
                <a:cs typeface="Calibri" pitchFamily="34" charset="-120"/>
              </a:rPr>
              <a:t>No pitch, no pressure — just a conversation about what you’re trying to achieve.</a:t>
            </a:r>
            <a:endParaRPr lang="en-US" sz="1650"/>
          </a:p>
        </p:txBody>
      </p:sp>
      <p:sp>
        <p:nvSpPr>
          <p:cNvPr id="8" name="Shape 5"/>
          <p:cNvSpPr/>
          <p:nvPr/>
        </p:nvSpPr>
        <p:spPr>
          <a:xfrm>
            <a:off x="601981" y="4507700"/>
            <a:ext cx="6903720" cy="1371600"/>
          </a:xfrm>
          <a:prstGeom prst="rect">
            <a:avLst/>
          </a:prstGeom>
          <a:solidFill>
            <a:srgbClr val="141915"/>
          </a:solidFill>
          <a:ln w="12700">
            <a:solidFill>
              <a:srgbClr val="2A332B"/>
            </a:solidFill>
            <a:prstDash val="solid"/>
          </a:ln>
        </p:spPr>
        <p:txBody>
          <a:bodyPr/>
          <a:lstStyle/>
          <a:p>
            <a:endParaRPr lang="en-ZA"/>
          </a:p>
        </p:txBody>
      </p:sp>
      <p:sp>
        <p:nvSpPr>
          <p:cNvPr id="9" name="Shape 6"/>
          <p:cNvSpPr/>
          <p:nvPr/>
        </p:nvSpPr>
        <p:spPr>
          <a:xfrm>
            <a:off x="605385" y="4507116"/>
            <a:ext cx="109728" cy="1371600"/>
          </a:xfrm>
          <a:prstGeom prst="rect">
            <a:avLst/>
          </a:prstGeom>
          <a:solidFill>
            <a:srgbClr val="37B34A"/>
          </a:solidFill>
          <a:ln/>
        </p:spPr>
        <p:txBody>
          <a:bodyPr/>
          <a:lstStyle/>
          <a:p>
            <a:endParaRPr lang="en-ZA"/>
          </a:p>
        </p:txBody>
      </p:sp>
      <p:sp>
        <p:nvSpPr>
          <p:cNvPr id="10" name="Text 7"/>
          <p:cNvSpPr/>
          <p:nvPr/>
        </p:nvSpPr>
        <p:spPr>
          <a:xfrm>
            <a:off x="960299" y="4611688"/>
            <a:ext cx="2743200" cy="274320"/>
          </a:xfrm>
          <a:prstGeom prst="rect">
            <a:avLst/>
          </a:prstGeom>
          <a:noFill/>
          <a:ln/>
        </p:spPr>
        <p:txBody>
          <a:bodyPr wrap="square" lIns="0" tIns="0" rIns="0" bIns="0" rtlCol="0" anchor="ctr"/>
          <a:lstStyle/>
          <a:p>
            <a:pPr marL="0" indent="0">
              <a:buNone/>
            </a:pPr>
            <a:r>
              <a:rPr lang="en-US" sz="1100" b="1" kern="0" spc="200">
                <a:solidFill>
                  <a:srgbClr val="37B34A"/>
                </a:solidFill>
                <a:latin typeface="Arial" pitchFamily="34" charset="0"/>
                <a:ea typeface="Arial" pitchFamily="34" charset="-122"/>
                <a:cs typeface="Arial" pitchFamily="34" charset="-120"/>
              </a:rPr>
              <a:t>EMAIL</a:t>
            </a:r>
            <a:endParaRPr lang="en-US" sz="1100"/>
          </a:p>
        </p:txBody>
      </p:sp>
      <p:sp>
        <p:nvSpPr>
          <p:cNvPr id="11" name="Text 8"/>
          <p:cNvSpPr/>
          <p:nvPr/>
        </p:nvSpPr>
        <p:spPr>
          <a:xfrm>
            <a:off x="963931" y="5001864"/>
            <a:ext cx="4572000" cy="457200"/>
          </a:xfrm>
          <a:prstGeom prst="rect">
            <a:avLst/>
          </a:prstGeom>
          <a:noFill/>
          <a:ln/>
        </p:spPr>
        <p:txBody>
          <a:bodyPr wrap="square" lIns="0" tIns="0" rIns="0" bIns="0" rtlCol="0" anchor="ctr"/>
          <a:lstStyle/>
          <a:p>
            <a:pPr marL="0" indent="0">
              <a:buNone/>
            </a:pPr>
            <a:r>
              <a:rPr lang="en-US" sz="2000" b="1">
                <a:solidFill>
                  <a:srgbClr val="F0F2ED"/>
                </a:solidFill>
                <a:latin typeface="Arial" pitchFamily="34" charset="0"/>
                <a:ea typeface="Arial" pitchFamily="34" charset="-122"/>
                <a:cs typeface="Arial" pitchFamily="34" charset="-120"/>
              </a:rPr>
              <a:t>info@plus3.co.za</a:t>
            </a:r>
            <a:endParaRPr lang="en-US" sz="2000"/>
          </a:p>
        </p:txBody>
      </p:sp>
      <p:sp>
        <p:nvSpPr>
          <p:cNvPr id="12" name="Text 9"/>
          <p:cNvSpPr/>
          <p:nvPr/>
        </p:nvSpPr>
        <p:spPr>
          <a:xfrm>
            <a:off x="4480560" y="4611588"/>
            <a:ext cx="2743200" cy="274320"/>
          </a:xfrm>
          <a:prstGeom prst="rect">
            <a:avLst/>
          </a:prstGeom>
          <a:noFill/>
          <a:ln/>
        </p:spPr>
        <p:txBody>
          <a:bodyPr wrap="square" lIns="0" tIns="0" rIns="0" bIns="0" rtlCol="0" anchor="ctr"/>
          <a:lstStyle/>
          <a:p>
            <a:pPr marL="0" indent="0">
              <a:buNone/>
            </a:pPr>
            <a:r>
              <a:rPr lang="en-US" sz="1100" b="1" kern="0" spc="200">
                <a:solidFill>
                  <a:srgbClr val="37B34A"/>
                </a:solidFill>
                <a:latin typeface="Arial" pitchFamily="34" charset="0"/>
                <a:ea typeface="Arial" pitchFamily="34" charset="-122"/>
                <a:cs typeface="Arial" pitchFamily="34" charset="-120"/>
              </a:rPr>
              <a:t>PHONE</a:t>
            </a:r>
            <a:endParaRPr lang="en-US" sz="1100"/>
          </a:p>
        </p:txBody>
      </p:sp>
      <p:sp>
        <p:nvSpPr>
          <p:cNvPr id="13" name="Text 10"/>
          <p:cNvSpPr/>
          <p:nvPr/>
        </p:nvSpPr>
        <p:spPr>
          <a:xfrm>
            <a:off x="4480560" y="5111511"/>
            <a:ext cx="3657600" cy="457200"/>
          </a:xfrm>
          <a:prstGeom prst="rect">
            <a:avLst/>
          </a:prstGeom>
          <a:noFill/>
          <a:ln/>
        </p:spPr>
        <p:txBody>
          <a:bodyPr wrap="square" lIns="0" tIns="0" rIns="0" bIns="0" rtlCol="0" anchor="ctr"/>
          <a:lstStyle/>
          <a:p>
            <a:pPr marL="0" indent="0">
              <a:buNone/>
            </a:pPr>
            <a:r>
              <a:rPr lang="en-US" b="1" dirty="0">
                <a:solidFill>
                  <a:srgbClr val="F0F2ED"/>
                </a:solidFill>
                <a:latin typeface="Arial" pitchFamily="34" charset="0"/>
                <a:ea typeface="Arial" pitchFamily="34" charset="-122"/>
                <a:cs typeface="Arial" pitchFamily="34" charset="-120"/>
              </a:rPr>
              <a:t>+27 82 263 5227</a:t>
            </a:r>
            <a:endParaRPr lang="en-US" b="1" dirty="0">
              <a:solidFill>
                <a:srgbClr val="F0F2ED"/>
              </a:solidFill>
              <a:latin typeface="Arial" pitchFamily="34" charset="0"/>
              <a:cs typeface="Arial" pitchFamily="34" charset="-120"/>
            </a:endParaRPr>
          </a:p>
          <a:p>
            <a:pPr marL="0" indent="0">
              <a:buNone/>
            </a:pPr>
            <a:r>
              <a:rPr lang="en-US" b="1" dirty="0">
                <a:solidFill>
                  <a:srgbClr val="F0F2ED"/>
                </a:solidFill>
                <a:latin typeface="Arial" pitchFamily="34" charset="0"/>
                <a:cs typeface="Arial" pitchFamily="34" charset="-120"/>
              </a:rPr>
              <a:t>+27 68 939 7311</a:t>
            </a:r>
            <a:br>
              <a:rPr lang="en-US" b="1" dirty="0">
                <a:solidFill>
                  <a:srgbClr val="F0F2ED"/>
                </a:solidFill>
                <a:latin typeface="Arial" pitchFamily="34" charset="0"/>
                <a:cs typeface="Arial" pitchFamily="34" charset="-120"/>
              </a:rPr>
            </a:br>
            <a:endParaRPr lang="en-US" dirty="0"/>
          </a:p>
        </p:txBody>
      </p:sp>
      <p:sp>
        <p:nvSpPr>
          <p:cNvPr id="14" name="Text 11"/>
          <p:cNvSpPr/>
          <p:nvPr/>
        </p:nvSpPr>
        <p:spPr>
          <a:xfrm>
            <a:off x="640080" y="6437376"/>
            <a:ext cx="4572000" cy="274320"/>
          </a:xfrm>
          <a:prstGeom prst="rect">
            <a:avLst/>
          </a:prstGeom>
          <a:noFill/>
          <a:ln/>
        </p:spPr>
        <p:txBody>
          <a:bodyPr wrap="square" lIns="0" tIns="0" rIns="0" bIns="0" rtlCol="0" anchor="ctr"/>
          <a:lstStyle/>
          <a:p>
            <a:pPr marL="0" indent="0">
              <a:buNone/>
            </a:pPr>
            <a:r>
              <a:rPr lang="en-US" sz="850" kern="0" spc="200">
                <a:solidFill>
                  <a:srgbClr val="98A399"/>
                </a:solidFill>
                <a:latin typeface="Arial" pitchFamily="34" charset="0"/>
                <a:ea typeface="Arial" pitchFamily="34" charset="-122"/>
                <a:cs typeface="Arial" pitchFamily="34" charset="-120"/>
              </a:rPr>
              <a:t>PLUS3 INTRODUCTION</a:t>
            </a:r>
            <a:endParaRPr lang="en-US" sz="850"/>
          </a:p>
        </p:txBody>
      </p:sp>
      <p:sp>
        <p:nvSpPr>
          <p:cNvPr id="15" name="Text 12"/>
          <p:cNvSpPr/>
          <p:nvPr/>
        </p:nvSpPr>
        <p:spPr>
          <a:xfrm>
            <a:off x="10180015" y="6437376"/>
            <a:ext cx="1371600" cy="274320"/>
          </a:xfrm>
          <a:prstGeom prst="rect">
            <a:avLst/>
          </a:prstGeom>
          <a:noFill/>
          <a:ln/>
        </p:spPr>
        <p:txBody>
          <a:bodyPr wrap="square" lIns="0" tIns="0" rIns="0" bIns="0" rtlCol="0" anchor="ctr"/>
          <a:lstStyle/>
          <a:p>
            <a:pPr marL="0" indent="0" algn="r">
              <a:buNone/>
            </a:pPr>
            <a:r>
              <a:rPr lang="en-US" sz="900" b="1">
                <a:solidFill>
                  <a:srgbClr val="37B34A"/>
                </a:solidFill>
                <a:latin typeface="Arial" pitchFamily="34" charset="0"/>
                <a:ea typeface="Arial" pitchFamily="34" charset="-122"/>
                <a:cs typeface="Arial" pitchFamily="34" charset="-120"/>
              </a:rPr>
              <a:t>09</a:t>
            </a:r>
            <a:r>
              <a:rPr lang="en-US" sz="900">
                <a:solidFill>
                  <a:srgbClr val="98A399"/>
                </a:solidFill>
                <a:latin typeface="Arial" pitchFamily="34" charset="0"/>
                <a:ea typeface="Arial" pitchFamily="34" charset="-122"/>
                <a:cs typeface="Arial" pitchFamily="34" charset="-120"/>
              </a:rPr>
              <a:t>  /  09</a:t>
            </a:r>
            <a:endParaRPr lang="en-US" sz="900"/>
          </a:p>
        </p:txBody>
      </p:sp>
      <p:pic>
        <p:nvPicPr>
          <p:cNvPr id="900" name="Plus3 Logo"/>
          <p:cNvPicPr>
            <a:picLocks noChangeAspect="1"/>
          </p:cNvPicPr>
          <p:nvPr/>
        </p:nvPicPr>
        <p:blipFill>
          <a:blip r:embed="rId4"/>
          <a:stretch>
            <a:fillRect/>
          </a:stretch>
        </p:blipFill>
        <p:spPr>
          <a:xfrm>
            <a:off x="640080" y="475488"/>
            <a:ext cx="809100" cy="256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37245</TotalTime>
  <Words>656</Words>
  <Application>Microsoft Office PowerPoint</Application>
  <PresentationFormat>Widescreen</PresentationFormat>
  <Paragraphs>115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Hannah Pearce</dc:creator>
  <cp:lastModifiedBy>Hannah Pearce</cp:lastModifiedBy>
  <cp:revision>4</cp:revision>
  <dcterms:created xsi:type="dcterms:W3CDTF">2026-06-17T10:28:10Z</dcterms:created>
  <dcterms:modified xsi:type="dcterms:W3CDTF">2026-07-13T07:39:59Z</dcterms:modified>
</cp:coreProperties>
</file>